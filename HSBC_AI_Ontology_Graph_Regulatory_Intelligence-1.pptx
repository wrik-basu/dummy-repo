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EXECUTIVE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From linkage models to a governed Regulatory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AI discovers and reasons over relationships; ontology defines their meaning; the graph preserves them as trusted, traceable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3429000" cy="82296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39696"/>
            <a:ext cx="3099816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00" b="1" i="0">
                <a:solidFill>
                  <a:srgbClr val="DB0011"/>
                </a:solidFill>
                <a:latin typeface="Aptos"/>
              </a:rPr>
              <a:t>AI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78608"/>
            <a:ext cx="2971800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 i="0">
                <a:solidFill>
                  <a:srgbClr val="262640"/>
                </a:solidFill>
                <a:latin typeface="Aptos"/>
              </a:rPr>
              <a:t>Extract • Resolve • Link • Reason • Recommend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82880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3128" y="1828800"/>
            <a:ext cx="3429000" cy="82296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39696"/>
            <a:ext cx="3099816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00" b="1" i="0">
                <a:solidFill>
                  <a:srgbClr val="262640"/>
                </a:solidFill>
                <a:latin typeface="Aptos"/>
              </a:rPr>
              <a:t>ONTOLOGY &amp;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578608"/>
            <a:ext cx="2971800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 i="0">
                <a:solidFill>
                  <a:srgbClr val="262640"/>
                </a:solidFill>
                <a:latin typeface="Aptos"/>
              </a:rPr>
              <a:t>Define entities • relationships • rules • ownership • versions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28800"/>
            <a:ext cx="34290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1828800"/>
            <a:ext cx="3429000" cy="82296"/>
          </a:xfrm>
          <a:prstGeom prst="rect">
            <a:avLst/>
          </a:prstGeom>
          <a:solidFill>
            <a:srgbClr val="3A5B7E"/>
          </a:solidFill>
          <a:ln>
            <a:solidFill>
              <a:srgbClr val="3A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39696"/>
            <a:ext cx="3099816" cy="2286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00" b="1" i="0">
                <a:solidFill>
                  <a:srgbClr val="3A5B7E"/>
                </a:solidFill>
                <a:latin typeface="Aptos"/>
              </a:rPr>
              <a:t>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578608"/>
            <a:ext cx="2971800" cy="4572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 i="0">
                <a:solidFill>
                  <a:srgbClr val="262640"/>
                </a:solidFill>
                <a:latin typeface="Aptos"/>
              </a:rPr>
              <a:t>Store • traverse • evidence • lineage • impact context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3087" y="3858768"/>
            <a:ext cx="850393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899989" y="3858768"/>
            <a:ext cx="83491" cy="56094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899989" y="3802673"/>
            <a:ext cx="83491" cy="56095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05472" y="3858768"/>
            <a:ext cx="850392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972373" y="3858768"/>
            <a:ext cx="83491" cy="56094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972373" y="3802673"/>
            <a:ext cx="83491" cy="56095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10912" y="3511296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3575303"/>
            <a:ext cx="2029967" cy="5943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Governed
knowledge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9160"/>
            <a:ext cx="10835640" cy="932688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919472"/>
            <a:ext cx="141732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BUSINESS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46320"/>
            <a:ext cx="8458200" cy="34747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A reusable regulatory context layer that supports Impact, Gaps, Routing and Suggested Action.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1 •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Reuse the existing linkage capability — but make its intelligence graph-compatible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The linkage model remains the candidate-generation engine. The transformation is to make its outputs explicit, governed and reusable.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3337560" cy="4553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91440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33172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3896" y="2395727"/>
            <a:ext cx="1527048" cy="47548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Regulatory
content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21992" y="2898648"/>
            <a:ext cx="0" cy="438912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165897" y="3254069"/>
            <a:ext cx="56095" cy="83491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21992" y="3254069"/>
            <a:ext cx="56094" cy="83491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17320" y="333756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3896" y="3401568"/>
            <a:ext cx="1527048" cy="47548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Linkage
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1992" y="3904487"/>
            <a:ext cx="0" cy="438913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165897" y="4259909"/>
            <a:ext cx="56095" cy="83491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221992" y="4259909"/>
            <a:ext cx="56094" cy="83491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417320" y="434340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53896" y="4407408"/>
            <a:ext cx="1527048" cy="47548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Candidate
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285232"/>
            <a:ext cx="2670048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30" b="1" i="0">
                <a:solidFill>
                  <a:srgbClr val="262640"/>
                </a:solidFill>
                <a:latin typeface="Aptos"/>
              </a:rPr>
              <a:t>Strong model intelligence exists — but it is typically consumed as linkage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572768"/>
            <a:ext cx="7333488" cy="4553712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solidFill>
              <a:srgbClr val="F6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828800"/>
            <a:ext cx="91440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5152" y="2514600"/>
            <a:ext cx="1508760" cy="585216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578608"/>
            <a:ext cx="1435607" cy="4937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Obligation
O123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2" y="3182112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246120"/>
            <a:ext cx="1161288" cy="38404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MET_BY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2514600"/>
            <a:ext cx="1508760" cy="585216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2578608"/>
            <a:ext cx="1435607" cy="4937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Control
C456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53912" y="2807208"/>
            <a:ext cx="365760" cy="603504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6428427" y="3368385"/>
            <a:ext cx="91245" cy="42327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519672" y="3310237"/>
            <a:ext cx="4698" cy="100475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54112" y="2807208"/>
            <a:ext cx="493776" cy="603504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238433" y="2807208"/>
            <a:ext cx="9455" cy="100138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151604" y="2807208"/>
            <a:ext cx="96284" cy="29096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645152" y="4206240"/>
            <a:ext cx="5111496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416552"/>
            <a:ext cx="265176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EDGE BECOMES A GOVERNED FACT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791456"/>
            <a:ext cx="4663440" cy="4114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220" b="1" i="0">
                <a:solidFill>
                  <a:srgbClr val="262640"/>
                </a:solidFill>
                <a:latin typeface="Aptos"/>
              </a:rPr>
              <a:t>confidence • evidence • SME status • model version • effective date • provenance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5669280"/>
            <a:ext cx="6565392" cy="25603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400" b="1" i="0">
                <a:solidFill>
                  <a:srgbClr val="DB0011"/>
                </a:solidFill>
                <a:latin typeface="Aptos"/>
              </a:rPr>
              <a:t>Shift: from “model output” → “trusted relationship knowledge”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2 •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Ontology is the semantic contract — and it needs an owner and a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The ontology should be co-created by Regulatory SMEs and the Data/AI + Graph team, then governed as a versioned business asset.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47088"/>
            <a:ext cx="1920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1920240" cy="73152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39696"/>
            <a:ext cx="1700784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262640"/>
                </a:solidFill>
                <a:latin typeface="Aptos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32888"/>
            <a:ext cx="1591056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50" b="1" i="0">
                <a:solidFill>
                  <a:srgbClr val="262640"/>
                </a:solidFill>
                <a:latin typeface="Aptos"/>
              </a:rPr>
              <a:t>Existing entities
+ relationships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2487168"/>
            <a:ext cx="320040" cy="0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723717" y="2487168"/>
            <a:ext cx="83491" cy="56094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723717" y="2431073"/>
            <a:ext cx="83491" cy="56095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47088"/>
            <a:ext cx="1920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847088"/>
            <a:ext cx="1920240" cy="7315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139696"/>
            <a:ext cx="1700784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DB0011"/>
                </a:solidFill>
                <a:latin typeface="Aptos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532888"/>
            <a:ext cx="1591056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50" b="1" i="0">
                <a:solidFill>
                  <a:srgbClr val="262640"/>
                </a:solidFill>
                <a:latin typeface="Aptos"/>
              </a:rPr>
              <a:t>Canonical entities
+ relationship types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18888" y="2487168"/>
            <a:ext cx="320040" cy="0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055437" y="2487168"/>
            <a:ext cx="83491" cy="56094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055437" y="2431073"/>
            <a:ext cx="83491" cy="56095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79" y="1847088"/>
            <a:ext cx="1920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9" y="1847088"/>
            <a:ext cx="1920240" cy="73152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7" y="2139696"/>
            <a:ext cx="1700784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262640"/>
                </a:solidFill>
                <a:latin typeface="Aptos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1" y="2532888"/>
            <a:ext cx="1591056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50" b="1" i="0">
                <a:solidFill>
                  <a:srgbClr val="262640"/>
                </a:solidFill>
                <a:latin typeface="Aptos"/>
              </a:rPr>
              <a:t>SME / domain
challenge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50607" y="2487168"/>
            <a:ext cx="320041" cy="0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387157" y="2487168"/>
            <a:ext cx="83491" cy="56094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387157" y="2431073"/>
            <a:ext cx="83491" cy="56095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43800" y="1847088"/>
            <a:ext cx="1920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1847088"/>
            <a:ext cx="1920240" cy="7315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7" y="2139696"/>
            <a:ext cx="1700784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DB0011"/>
                </a:solidFill>
                <a:latin typeface="Aptos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2532888"/>
            <a:ext cx="1591056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50" b="1" i="0">
                <a:solidFill>
                  <a:srgbClr val="262640"/>
                </a:solidFill>
                <a:latin typeface="Aptos"/>
              </a:rPr>
              <a:t>Ontology owner
sign-off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82328" y="2487168"/>
            <a:ext cx="320040" cy="0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718877" y="2487168"/>
            <a:ext cx="83491" cy="56094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9718877" y="2431073"/>
            <a:ext cx="83491" cy="56095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19" y="1847088"/>
            <a:ext cx="1920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75519" y="1847088"/>
            <a:ext cx="1920240" cy="73152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85247" y="2139696"/>
            <a:ext cx="1700784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262640"/>
                </a:solidFill>
                <a:latin typeface="Aptos"/>
              </a:rPr>
              <a:t>EVERGREEN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1" y="2532888"/>
            <a:ext cx="1591056" cy="3840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50" b="1" i="0">
                <a:solidFill>
                  <a:srgbClr val="262640"/>
                </a:solidFill>
                <a:latin typeface="Aptos"/>
              </a:rPr>
              <a:t>Change request
+ version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675887"/>
            <a:ext cx="10972800" cy="1901952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solidFill>
              <a:srgbClr val="F6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3931920"/>
            <a:ext cx="14173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WHO DOES WHAT?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352544"/>
            <a:ext cx="2286000" cy="29260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262640"/>
                </a:solidFill>
                <a:latin typeface="Aptos"/>
              </a:rPr>
              <a:t>Regulatory SMEs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754880"/>
            <a:ext cx="2286000" cy="53035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69" b="0" i="0">
                <a:solidFill>
                  <a:srgbClr val="303036"/>
                </a:solidFill>
                <a:latin typeface="Aptos"/>
              </a:rPr>
              <a:t>Define business meaning, challenge relationship semantics, validate applicability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9584" y="4352544"/>
            <a:ext cx="2286000" cy="29260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262640"/>
                </a:solidFill>
                <a:latin typeface="Aptos"/>
              </a:rPr>
              <a:t>Data / AI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9584" y="4754880"/>
            <a:ext cx="2286000" cy="53035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69" b="0" i="0">
                <a:solidFill>
                  <a:srgbClr val="303036"/>
                </a:solidFill>
                <a:latin typeface="Aptos"/>
              </a:rPr>
              <a:t>Use linkage evidence to discover candidate entities / relationships; maintain mappings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3056" y="4352544"/>
            <a:ext cx="2286000" cy="29260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262640"/>
                </a:solidFill>
                <a:latin typeface="Aptos"/>
              </a:rPr>
              <a:t>Graph / Data engineering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3056" y="4754880"/>
            <a:ext cx="2286000" cy="53035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69" b="0" i="0">
                <a:solidFill>
                  <a:srgbClr val="303036"/>
                </a:solidFill>
                <a:latin typeface="Aptos"/>
              </a:rPr>
              <a:t>Implement schema, constraints, versioning and graph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4352544"/>
            <a:ext cx="2286000" cy="29260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262640"/>
                </a:solidFill>
                <a:latin typeface="Aptos"/>
              </a:rPr>
              <a:t>Ontology owner / 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4754880"/>
            <a:ext cx="2286000" cy="53035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69" b="0" i="0">
                <a:solidFill>
                  <a:srgbClr val="303036"/>
                </a:solidFill>
                <a:latin typeface="Aptos"/>
              </a:rPr>
              <a:t>Approve changes, manage versions and ensure cross-domain consistency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3 •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AI is used before, during and after graph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The graph is not the AI. AI creates and enriches graph knowledge; graph retrieval then supplies structured context for downstream AI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47088"/>
            <a:ext cx="20299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47088"/>
            <a:ext cx="2029968" cy="7315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2121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185416"/>
            <a:ext cx="31089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139696"/>
            <a:ext cx="1353312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DB0011"/>
                </a:solidFill>
                <a:latin typeface="Aptos"/>
              </a:rP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60904"/>
            <a:ext cx="1700784" cy="4754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30" b="1" i="0">
                <a:solidFill>
                  <a:srgbClr val="262640"/>
                </a:solidFill>
                <a:latin typeface="Aptos"/>
              </a:rPr>
              <a:t>Entities, attributes,
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300984"/>
            <a:ext cx="17007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 i="0">
                <a:solidFill>
                  <a:srgbClr val="696974"/>
                </a:solidFill>
                <a:latin typeface="Aptos"/>
              </a:rPr>
              <a:t>Source →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1847088"/>
            <a:ext cx="20299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2344" y="1847088"/>
            <a:ext cx="2029968" cy="73152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62072" y="2121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2072" y="2185416"/>
            <a:ext cx="31089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39696"/>
            <a:ext cx="1353312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RESOLVE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2660904"/>
            <a:ext cx="1700784" cy="4754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30" b="1" i="0">
                <a:solidFill>
                  <a:srgbClr val="262640"/>
                </a:solidFill>
                <a:latin typeface="Aptos"/>
              </a:rPr>
              <a:t>Canonical entity
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3300984"/>
            <a:ext cx="17007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 i="0">
                <a:solidFill>
                  <a:srgbClr val="696974"/>
                </a:solidFill>
                <a:latin typeface="Aptos"/>
              </a:rPr>
              <a:t>Avoid duplicates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3208" y="1847088"/>
            <a:ext cx="20299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3208" y="1847088"/>
            <a:ext cx="2029968" cy="7315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02936" y="2121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185416"/>
            <a:ext cx="31089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6984" y="2139696"/>
            <a:ext cx="1353312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DB0011"/>
                </a:solidFill>
                <a:latin typeface="Aptos"/>
              </a:rPr>
              <a:t>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660904"/>
            <a:ext cx="1700784" cy="4754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30" b="1" i="0">
                <a:solidFill>
                  <a:srgbClr val="262640"/>
                </a:solidFill>
                <a:latin typeface="Aptos"/>
              </a:rPr>
              <a:t>Candidate
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300984"/>
            <a:ext cx="17007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 i="0">
                <a:solidFill>
                  <a:srgbClr val="696974"/>
                </a:solidFill>
                <a:latin typeface="Aptos"/>
              </a:rPr>
              <a:t>Model + 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4071" y="1847088"/>
            <a:ext cx="20299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34071" y="1847088"/>
            <a:ext cx="2029968" cy="73152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3799" y="2121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799" y="2185416"/>
            <a:ext cx="31089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7" y="2139696"/>
            <a:ext cx="1353312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REASON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3" y="2660904"/>
            <a:ext cx="1700784" cy="4754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30" b="1" i="0">
                <a:solidFill>
                  <a:srgbClr val="262640"/>
                </a:solidFill>
                <a:latin typeface="Aptos"/>
              </a:rPr>
              <a:t>Graph context +
regulatory 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8663" y="3300984"/>
            <a:ext cx="17007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 i="0">
                <a:solidFill>
                  <a:srgbClr val="696974"/>
                </a:solidFill>
                <a:latin typeface="Aptos"/>
              </a:rPr>
              <a:t>Impact / gap logic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74936" y="1847088"/>
            <a:ext cx="2029968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74936" y="1847088"/>
            <a:ext cx="2029968" cy="7315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84663" y="212140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84663" y="2185416"/>
            <a:ext cx="310896" cy="13716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2" y="2139696"/>
            <a:ext cx="1353312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DB0011"/>
                </a:solidFill>
                <a:latin typeface="Aptos"/>
              </a:rPr>
              <a:t>RECOMMEND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660904"/>
            <a:ext cx="1700784" cy="4754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130" b="1" i="0">
                <a:solidFill>
                  <a:srgbClr val="262640"/>
                </a:solidFill>
                <a:latin typeface="Aptos"/>
              </a:rPr>
              <a:t>Suggested action
with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3300984"/>
            <a:ext cx="1700784" cy="274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0" i="0">
                <a:solidFill>
                  <a:srgbClr val="696974"/>
                </a:solidFill>
                <a:latin typeface="Aptos"/>
              </a:rPr>
              <a:t>Human approval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370832"/>
            <a:ext cx="10881360" cy="1115568"/>
          </a:xfrm>
          <a:prstGeom prst="roundRect">
            <a:avLst>
              <a:gd name="adj" fmla="val 8000"/>
            </a:avLst>
          </a:prstGeom>
          <a:solidFill>
            <a:srgbClr val="FCEBED"/>
          </a:solidFill>
          <a:ln>
            <a:solidFill>
              <a:srgbClr val="F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608576"/>
            <a:ext cx="157276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00" b="1" i="0">
                <a:solidFill>
                  <a:srgbClr val="DB0011"/>
                </a:solidFill>
                <a:latin typeface="Aptos"/>
              </a:rPr>
              <a:t>CRITICAL DISTINCTION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8608" y="4553712"/>
            <a:ext cx="8458200" cy="42062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400" b="1" i="0">
                <a:solidFill>
                  <a:srgbClr val="262640"/>
                </a:solidFill>
                <a:latin typeface="Aptos"/>
              </a:rPr>
              <a:t>AI proposes / enriches → governance validates → Graph stores trusted knowledge → AI reasons over retrieved graph context.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4 • 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AI + Ontology + Graph form a closed intelligence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Each layer has a distinct role; together they create an explainable and evergreen regulatory knowledge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554480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4519" y="1554480"/>
            <a:ext cx="82296" cy="56692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21408" y="1673352"/>
            <a:ext cx="21031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REGULATORY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1664207"/>
            <a:ext cx="562356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 i="0">
                <a:solidFill>
                  <a:srgbClr val="262640"/>
                </a:solidFill>
                <a:latin typeface="Aptos"/>
              </a:rPr>
              <a:t>Regulations • Circulars • Policies • Controls • Master / reference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121408"/>
            <a:ext cx="0" cy="14630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6024665" y="2184221"/>
            <a:ext cx="56095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80760" y="2184221"/>
            <a:ext cx="56094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74519" y="2286000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4519" y="2286000"/>
            <a:ext cx="82296" cy="566928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2404872"/>
            <a:ext cx="21031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262640"/>
                </a:solidFill>
                <a:latin typeface="Aptos"/>
              </a:rPr>
              <a:t>AI /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395728"/>
            <a:ext cx="562356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 i="0">
                <a:solidFill>
                  <a:srgbClr val="262640"/>
                </a:solidFill>
                <a:latin typeface="Aptos"/>
              </a:rPr>
              <a:t>Extract • Resolve • Link • Evidence • Candidate reasoning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852928"/>
            <a:ext cx="0" cy="14630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024665" y="2915741"/>
            <a:ext cx="56095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80760" y="2915741"/>
            <a:ext cx="56094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74519" y="3017520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74519" y="3017520"/>
            <a:ext cx="82296" cy="56692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3136391"/>
            <a:ext cx="21031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ONTOLOGY &amp;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127248"/>
            <a:ext cx="562356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 i="0">
                <a:solidFill>
                  <a:srgbClr val="262640"/>
                </a:solidFill>
                <a:latin typeface="Aptos"/>
              </a:rPr>
              <a:t>Entities • Relationship types • Rules • Ownership • Versions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3584448"/>
            <a:ext cx="0" cy="14630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024665" y="3647261"/>
            <a:ext cx="56095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80760" y="3647261"/>
            <a:ext cx="56094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74519" y="3749039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4519" y="3749039"/>
            <a:ext cx="82296" cy="566928"/>
          </a:xfrm>
          <a:prstGeom prst="rect">
            <a:avLst/>
          </a:prstGeom>
          <a:solidFill>
            <a:srgbClr val="3A5B7E"/>
          </a:solidFill>
          <a:ln>
            <a:solidFill>
              <a:srgbClr val="3A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1408" y="3867911"/>
            <a:ext cx="21031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3A5B7E"/>
                </a:solidFill>
                <a:latin typeface="Aptos"/>
              </a:rPr>
              <a:t>GRAPH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3858768"/>
            <a:ext cx="562356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 i="0">
                <a:solidFill>
                  <a:srgbClr val="262640"/>
                </a:solidFill>
                <a:latin typeface="Aptos"/>
              </a:rPr>
              <a:t>Nodes • Edges • Provenance • Effective dates • Relationship state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4315968"/>
            <a:ext cx="0" cy="14630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6024665" y="4378781"/>
            <a:ext cx="56095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080760" y="4378781"/>
            <a:ext cx="56094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74519" y="4480560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74519" y="4480560"/>
            <a:ext cx="82296" cy="566928"/>
          </a:xfrm>
          <a:prstGeom prst="rect">
            <a:avLst/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21408" y="4599432"/>
            <a:ext cx="21031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262640"/>
                </a:solidFill>
                <a:latin typeface="Aptos"/>
              </a:rPr>
              <a:t>GRAPH + AI REASONING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590288"/>
            <a:ext cx="562356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 i="0">
                <a:solidFill>
                  <a:srgbClr val="262640"/>
                </a:solidFill>
                <a:latin typeface="Aptos"/>
              </a:rPr>
              <a:t>Retrieve • Traverse • Contextualise • Assess • Recommend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80760" y="5047488"/>
            <a:ext cx="0" cy="14630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6024665" y="5110301"/>
            <a:ext cx="56095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080760" y="5110301"/>
            <a:ext cx="56094" cy="83491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874519" y="5212080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74519" y="5212080"/>
            <a:ext cx="82296" cy="56692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21408" y="5330952"/>
            <a:ext cx="21031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HUMAN 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5321808"/>
            <a:ext cx="5623560" cy="2468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80" b="1" i="0">
                <a:solidFill>
                  <a:srgbClr val="262640"/>
                </a:solidFill>
                <a:latin typeface="Aptos"/>
              </a:rPr>
              <a:t>SME validation • Risk Steward • Owner action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2331720"/>
            <a:ext cx="1024128" cy="2606040"/>
          </a:xfrm>
          <a:prstGeom prst="roundRect">
            <a:avLst>
              <a:gd name="adj" fmla="val 8000"/>
            </a:avLst>
          </a:prstGeom>
          <a:solidFill>
            <a:srgbClr val="FCEBED"/>
          </a:solidFill>
          <a:ln>
            <a:solidFill>
              <a:srgbClr val="F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2578608"/>
            <a:ext cx="786384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00" b="1" i="0">
                <a:solidFill>
                  <a:srgbClr val="DB0011"/>
                </a:solidFill>
                <a:latin typeface="Aptos"/>
              </a:rPr>
              <a:t>GOVERN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3035808"/>
            <a:ext cx="786384" cy="14173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00" b="1" i="0">
                <a:solidFill>
                  <a:srgbClr val="262640"/>
                </a:solidFill>
                <a:latin typeface="Aptos"/>
              </a:rPr>
              <a:t>quality
lineage
versioning
SME gates
monitoring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5 • GRAPH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The graph ingests governed relationships — not raw model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The ingestion contract should preserve the relationship, its evidence and its governance context so the graph remains explainable and refreshable.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27632"/>
            <a:ext cx="475488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83664"/>
            <a:ext cx="210312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GRAPH-READY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86000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5104" y="2286000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Obligation O123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2542032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6112" y="2706624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2706624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MET_BY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" y="2962656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6112" y="3127248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3127248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Control C456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" y="3383280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6112" y="3547872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" y="3547872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0.91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" y="3803904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2" y="3968496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3968496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source reference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" y="4224528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6112" y="4389120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5104" y="4389120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SME approved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" y="4645152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6112" y="4809744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LINEAGE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5104" y="4809744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model v3 • ontology v2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6112" y="5065776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6112" y="5230368"/>
            <a:ext cx="1024128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869" b="1" i="0">
                <a:solidFill>
                  <a:srgbClr val="696974"/>
                </a:solidFill>
                <a:latin typeface="Aptos"/>
              </a:rPr>
              <a:t>EFFECTIVE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4" y="5230368"/>
            <a:ext cx="269748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50" b="1" i="0">
                <a:solidFill>
                  <a:srgbClr val="262640"/>
                </a:solidFill>
                <a:latin typeface="Aptos"/>
              </a:rPr>
              <a:t>2026-09-01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" y="5486400"/>
            <a:ext cx="3995928" cy="0"/>
          </a:xfrm>
          <a:prstGeom prst="line">
            <a:avLst/>
          </a:prstGeom>
          <a:ln w="762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69280" y="1627632"/>
            <a:ext cx="5879592" cy="4407408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>
            <a:solidFill>
              <a:srgbClr val="F6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1883664"/>
            <a:ext cx="283464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INGESTION → TRUSTED GRAPH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606040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2670048"/>
            <a:ext cx="1389888" cy="4937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Obligation
O123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3568" y="3273552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3337560"/>
            <a:ext cx="1069848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MET_BY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2606040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2670048"/>
            <a:ext cx="1389888" cy="4937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Control
C456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07808" y="2898648"/>
            <a:ext cx="365760" cy="603504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882323" y="3459825"/>
            <a:ext cx="91245" cy="42327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73568" y="3401677"/>
            <a:ext cx="4698" cy="100475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116568" y="2898648"/>
            <a:ext cx="301752" cy="603504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18320" y="2898648"/>
            <a:ext cx="12834" cy="99761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9330810" y="2898648"/>
            <a:ext cx="87510" cy="49589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44768" y="4297680"/>
            <a:ext cx="164592" cy="260603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50" b="1" i="0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4297680"/>
            <a:ext cx="4462272" cy="260603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50" b="0" i="0">
                <a:solidFill>
                  <a:srgbClr val="303036"/>
                </a:solidFill>
                <a:latin typeface="Aptos"/>
              </a:rPr>
              <a:t>Canonical IDs prevent duplicate nodes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4768" y="4631436"/>
            <a:ext cx="164592" cy="260603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50" b="1" i="0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4631436"/>
            <a:ext cx="4462272" cy="260603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50" b="0" i="0">
                <a:solidFill>
                  <a:srgbClr val="303036"/>
                </a:solidFill>
                <a:latin typeface="Aptos"/>
              </a:rPr>
              <a:t>Relationship type comes from ontology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4965192"/>
            <a:ext cx="164592" cy="260603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50" b="1" i="0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5936" y="4965192"/>
            <a:ext cx="4462272" cy="260603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50" b="0" i="0">
                <a:solidFill>
                  <a:srgbClr val="303036"/>
                </a:solidFill>
                <a:latin typeface="Aptos"/>
              </a:rPr>
              <a:t>Evidence and provenance remain queryable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5298948"/>
            <a:ext cx="164592" cy="4754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50" b="1" i="0">
                <a:solidFill>
                  <a:srgbClr val="DB0011"/>
                </a:solidFill>
                <a:latin typeface="Apto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5936" y="5298948"/>
            <a:ext cx="4462272" cy="4754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50" b="0" i="0">
                <a:solidFill>
                  <a:srgbClr val="303036"/>
                </a:solidFill>
                <a:latin typeface="Aptos"/>
              </a:rPr>
              <a:t>Superseded relationships can be retired / versioned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6 •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The graph becomes evergreen — and turns new alerts into incremental 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The same intelligence loop operates continuously: detect change → link → validate → update graph → reason over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4708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911095"/>
            <a:ext cx="1344168" cy="56692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ptos"/>
              </a:rPr>
              <a:t>NEW / AMENDED
REGULATION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00784" y="2176272"/>
            <a:ext cx="210311" cy="0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827605" y="2176272"/>
            <a:ext cx="83490" cy="5609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827605" y="2120177"/>
            <a:ext cx="83490" cy="56095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56816" y="184708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2" y="1911095"/>
            <a:ext cx="1344168" cy="56692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ptos"/>
              </a:rPr>
              <a:t>AI / LINKAGE
UPDATE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2176272"/>
            <a:ext cx="210312" cy="0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510101" y="2176272"/>
            <a:ext cx="83491" cy="5609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510101" y="2120177"/>
            <a:ext cx="83491" cy="56095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39312" y="184708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1911095"/>
            <a:ext cx="1344168" cy="56692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ptos"/>
              </a:rPr>
              <a:t>ONTOLOGY
CHECK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65776" y="2176272"/>
            <a:ext cx="210312" cy="0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192597" y="2176272"/>
            <a:ext cx="83491" cy="5609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5192597" y="2120177"/>
            <a:ext cx="83491" cy="56095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21808" y="184708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1911095"/>
            <a:ext cx="1344168" cy="56692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ptos"/>
              </a:rPr>
              <a:t>SME
VALIDATION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48272" y="2176272"/>
            <a:ext cx="210312" cy="0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875093" y="2176272"/>
            <a:ext cx="83491" cy="5609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875093" y="2120177"/>
            <a:ext cx="83491" cy="56095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004304" y="184708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3A5B7E"/>
          </a:solidFill>
          <a:ln>
            <a:solidFill>
              <a:srgbClr val="3A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911095"/>
            <a:ext cx="1344168" cy="56692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ptos"/>
              </a:rPr>
              <a:t>GRAPH
DELTA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30768" y="2176272"/>
            <a:ext cx="210312" cy="0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557589" y="2176272"/>
            <a:ext cx="83491" cy="5609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557589" y="2120177"/>
            <a:ext cx="83491" cy="56095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86800" y="184708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23376" y="1911095"/>
            <a:ext cx="1344168" cy="56692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ptos"/>
              </a:rPr>
              <a:t>AI + GRAPH
REASONING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13264" y="2176272"/>
            <a:ext cx="210312" cy="0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240085" y="2176272"/>
            <a:ext cx="83491" cy="56094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240085" y="2120177"/>
            <a:ext cx="83491" cy="56095"/>
          </a:xfrm>
          <a:prstGeom prst="line">
            <a:avLst/>
          </a:prstGeom>
          <a:ln w="1524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369296" y="1847088"/>
            <a:ext cx="1417320" cy="658368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05872" y="1911095"/>
            <a:ext cx="1344168" cy="56692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Aptos"/>
              </a:rPr>
              <a:t>OWNER / RISK
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063240"/>
            <a:ext cx="1097280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19272"/>
            <a:ext cx="3657600" cy="201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00" b="1" i="0">
                <a:solidFill>
                  <a:srgbClr val="DB0011"/>
                </a:solidFill>
                <a:latin typeface="Aptos"/>
              </a:rPr>
              <a:t>BUSINESS QUESTIONS THE GRAPH + AI CAN 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749039"/>
            <a:ext cx="2240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1" i="0">
                <a:solidFill>
                  <a:srgbClr val="262640"/>
                </a:solidFill>
                <a:latin typeface="Aptos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114800"/>
            <a:ext cx="224028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80" b="1" i="0">
                <a:solidFill>
                  <a:srgbClr val="303036"/>
                </a:solidFill>
                <a:latin typeface="Aptos"/>
              </a:rPr>
              <a:t>Which policies / controls need review?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2152" y="3749039"/>
            <a:ext cx="2240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1" i="0">
                <a:solidFill>
                  <a:srgbClr val="262640"/>
                </a:solidFill>
                <a:latin typeface="Aptos"/>
              </a:rPr>
              <a:t>GAPS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152" y="4114800"/>
            <a:ext cx="224028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80" b="1" i="0">
                <a:solidFill>
                  <a:srgbClr val="303036"/>
                </a:solidFill>
                <a:latin typeface="Aptos"/>
              </a:rPr>
              <a:t>Which obligations have no coverage?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35624" y="3749039"/>
            <a:ext cx="2240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1" i="0">
                <a:solidFill>
                  <a:srgbClr val="262640"/>
                </a:solidFill>
                <a:latin typeface="Aptos"/>
              </a:rPr>
              <a:t>ROUTING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5624" y="4114800"/>
            <a:ext cx="224028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80" b="1" i="0">
                <a:solidFill>
                  <a:srgbClr val="303036"/>
                </a:solidFill>
                <a:latin typeface="Aptos"/>
              </a:rPr>
              <a:t>Who owns the affected items?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9096" y="3749039"/>
            <a:ext cx="2240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1" i="0">
                <a:solidFill>
                  <a:srgbClr val="262640"/>
                </a:solidFill>
                <a:latin typeface="Aptos"/>
              </a:rPr>
              <a:t>SUGGESTED 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9096" y="4114800"/>
            <a:ext cx="2240280" cy="43891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80" b="1" i="0">
                <a:solidFill>
                  <a:srgbClr val="303036"/>
                </a:solidFill>
                <a:latin typeface="Aptos"/>
              </a:rPr>
              <a:t>What should the owner review next?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47088" y="5532120"/>
            <a:ext cx="8503920" cy="438912"/>
          </a:xfrm>
          <a:prstGeom prst="roundRect">
            <a:avLst>
              <a:gd name="adj" fmla="val 8000"/>
            </a:avLst>
          </a:prstGeom>
          <a:solidFill>
            <a:srgbClr val="262640"/>
          </a:solidFill>
          <a:ln>
            <a:solidFill>
              <a:srgbClr val="26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11680" y="5650992"/>
            <a:ext cx="8183879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Every change is traceable to source → model → ontology → validation → graph version.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338328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7 • DECISIONS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9496"/>
            <a:ext cx="10972800" cy="50292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2500" b="1" i="0">
                <a:solidFill>
                  <a:srgbClr val="DB0011"/>
                </a:solidFill>
                <a:latin typeface="Aptos"/>
              </a:rPr>
              <a:t>Close the remaining design questions before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69848"/>
            <a:ext cx="108356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200" b="0" i="1">
                <a:solidFill>
                  <a:srgbClr val="696974"/>
                </a:solidFill>
                <a:latin typeface="Aptos"/>
              </a:rPr>
              <a:t>The solution is directionally defined; these decisions convert it into an executable operating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73351"/>
            <a:ext cx="11430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ONTOLOGY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618488"/>
            <a:ext cx="434340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1" i="0">
                <a:solidFill>
                  <a:srgbClr val="262640"/>
                </a:solidFill>
                <a:latin typeface="Aptos"/>
              </a:rPr>
              <a:t>Who is the accountable ontology owner?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18488"/>
            <a:ext cx="46634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40" b="0" i="0">
                <a:solidFill>
                  <a:srgbClr val="696974"/>
                </a:solidFill>
                <a:latin typeface="Aptos"/>
              </a:rPr>
              <a:t>Regulatory SME + Data/AI + Graph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67712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32304"/>
            <a:ext cx="11430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377440"/>
            <a:ext cx="434340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1" i="0">
                <a:solidFill>
                  <a:srgbClr val="262640"/>
                </a:solidFill>
                <a:latin typeface="Aptos"/>
              </a:rPr>
              <a:t>Which AI capabilities are productionised first?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377440"/>
            <a:ext cx="46634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40" b="0" i="0">
                <a:solidFill>
                  <a:srgbClr val="696974"/>
                </a:solidFill>
                <a:latin typeface="Aptos"/>
              </a:rPr>
              <a:t>Extraction / resolution / linkage / graph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26663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191256"/>
            <a:ext cx="11430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36391"/>
            <a:ext cx="434340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1" i="0">
                <a:solidFill>
                  <a:srgbClr val="262640"/>
                </a:solidFill>
                <a:latin typeface="Aptos"/>
              </a:rPr>
              <a:t>Which relationships require mandatory SME approval?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136391"/>
            <a:ext cx="46634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40" b="0" i="0">
                <a:solidFill>
                  <a:srgbClr val="696974"/>
                </a:solidFill>
                <a:latin typeface="Aptos"/>
              </a:rPr>
              <a:t>Risk-based governance by relationship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85615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950207"/>
            <a:ext cx="11430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895344"/>
            <a:ext cx="434340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1" i="0">
                <a:solidFill>
                  <a:srgbClr val="262640"/>
                </a:solidFill>
                <a:latin typeface="Aptos"/>
              </a:rPr>
              <a:t>What is the target Graph DB and canonical data contract?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895344"/>
            <a:ext cx="46634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40" b="0" i="0">
                <a:solidFill>
                  <a:srgbClr val="696974"/>
                </a:solidFill>
                <a:latin typeface="Aptos"/>
              </a:rPr>
              <a:t>Nodes + edges + evidence + lineage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44568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709159"/>
            <a:ext cx="11430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EVERGREEN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654296"/>
            <a:ext cx="434340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1" i="0">
                <a:solidFill>
                  <a:srgbClr val="262640"/>
                </a:solidFill>
                <a:latin typeface="Aptos"/>
              </a:rPr>
              <a:t>What triggers a graph refresh / ontology change?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54296"/>
            <a:ext cx="46634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40" b="0" i="0">
                <a:solidFill>
                  <a:srgbClr val="696974"/>
                </a:solidFill>
                <a:latin typeface="Aptos"/>
              </a:rPr>
              <a:t>Regulatory change, model change, taxonomy 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19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468111"/>
            <a:ext cx="1143000" cy="1828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950" b="1" i="0">
                <a:solidFill>
                  <a:srgbClr val="DB0011"/>
                </a:solidFill>
                <a:latin typeface="Aptos"/>
              </a:rP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413247"/>
            <a:ext cx="434340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120" b="1" i="0">
                <a:solidFill>
                  <a:srgbClr val="262640"/>
                </a:solidFill>
                <a:latin typeface="Aptos"/>
              </a:rPr>
              <a:t>How do we measure graph quality?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413247"/>
            <a:ext cx="4663440" cy="3200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1040" b="0" i="0">
                <a:solidFill>
                  <a:srgbClr val="696974"/>
                </a:solidFill>
                <a:latin typeface="Aptos"/>
              </a:rPr>
              <a:t>Coverage, stale links, conflicts, SME acceptance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8760" y="5989320"/>
            <a:ext cx="9144000" cy="274320"/>
          </a:xfrm>
          <a:prstGeom prst="roundRect">
            <a:avLst>
              <a:gd name="adj" fmla="val 8000"/>
            </a:avLst>
          </a:prstGeom>
          <a:solidFill>
            <a:srgbClr val="FCEBED"/>
          </a:solidFill>
          <a:ln>
            <a:solidFill>
              <a:srgbClr val="FCE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6035040"/>
            <a:ext cx="8778240" cy="164592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ctr"/>
            <a:r>
              <a:rPr sz="950" b="1" i="0">
                <a:solidFill>
                  <a:srgbClr val="DB0011"/>
                </a:solidFill>
                <a:latin typeface="Aptos"/>
              </a:rPr>
              <a:t>Recommended next step: agree the ontology + graph-ingestion contract, then prove the model on a controlled pilot.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C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6" y="6528816"/>
            <a:ext cx="3200400" cy="146304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/>
            <a:r>
              <a:rPr sz="750" b="1" i="0">
                <a:solidFill>
                  <a:srgbClr val="696974"/>
                </a:solidFill>
                <a:latin typeface="Aptos"/>
              </a:rPr>
              <a:t>INTERNAL • REGULATORY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8832" y="6519672"/>
            <a:ext cx="274320" cy="15544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r"/>
            <a:r>
              <a:rPr sz="800" b="1" i="0">
                <a:solidFill>
                  <a:srgbClr val="69697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HSBC — AI, Ontology &amp; Graph: Regulatory Intelligence</dc:title>
  <dc:subject>Target operating model for regulatory linkage, ontology, Graph DB and Impact Assessment</dc:subject>
  <dc:creator>Regulatory Management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