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Building the ontology is a governed business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The objective is not to ask an LLM to draw a graph; it is to establish a trusted, versioned business contract that AI and engineering can operationalise.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0749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WHAT WE ARE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52628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31F20"/>
                </a:solidFill>
                <a:latin typeface="Aptos"/>
              </a:rPr>
              <a:t>A canonical compliance language + baseline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578608"/>
            <a:ext cx="333756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231F20"/>
                </a:solidFill>
                <a:latin typeface="Aptos"/>
              </a:rPr>
              <a:t>RGL, RSM, ROB, Policy, Procedure, L1C,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7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218687"/>
            <a:ext cx="333756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231F20"/>
                </a:solidFill>
                <a:latin typeface="Aptos"/>
              </a:rPr>
              <a:t>CONTAINS, ADDRESSED_BY, IMPLEMENTED_BY, etc.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3858768"/>
            <a:ext cx="333756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231F20"/>
                </a:solidFill>
                <a:latin typeface="Aptos"/>
              </a:rPr>
              <a:t>Source, owner, applicability, confidence,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4498848"/>
            <a:ext cx="333756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231F20"/>
                </a:solidFill>
                <a:latin typeface="Aptos"/>
              </a:rPr>
              <a:t>Validation, approval, versioning and change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508760"/>
            <a:ext cx="5532120" cy="4251960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719072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WHY BUSINESS CONFIRMATION IS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11680"/>
            <a:ext cx="489204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31F20"/>
                </a:solidFill>
                <a:latin typeface="Aptos"/>
              </a:rPr>
              <a:t>Similarity does not equal business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542032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42032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Is this object really an ROB, Policy or Procedure?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17520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17520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Is this relationship ADDRESSED_BY or merely REFERENCES?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493008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93008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Which source is authoritative?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968496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68496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Does the relationship apply in this jurisdiction / business context?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443983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43983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Who owns and validates the relationship?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919471"/>
            <a:ext cx="20116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19471"/>
            <a:ext cx="47091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231F20"/>
                </a:solidFill>
                <a:latin typeface="Aptos"/>
              </a:rPr>
              <a:t>What evidence is sufficient to make it a trusted edge?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925312"/>
            <a:ext cx="10863072" cy="365760"/>
          </a:xfrm>
          <a:prstGeom prst="round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971032"/>
            <a:ext cx="1044244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AI = candidate discovery + evidence extraction     |     BUSINESS = meaning + applicability + validation     |     ENGINEERING = implementation + versioning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Step 1 — Agree what each entity 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Before creating graph nodes, business and SMEs need to confirm the canonical entity types, definitions, authoritative sources and ownership.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123444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499616"/>
            <a:ext cx="1088136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2807" y="1444752"/>
            <a:ext cx="306324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499616"/>
            <a:ext cx="2916936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Business meaning /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444752"/>
            <a:ext cx="370332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99616"/>
            <a:ext cx="3557015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What needs confirmation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59368" y="1444752"/>
            <a:ext cx="278892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499616"/>
            <a:ext cx="2642615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Likely source /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01952"/>
            <a:ext cx="12344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1956816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231F20"/>
                </a:solidFill>
                <a:latin typeface="Aptos"/>
              </a:rPr>
              <a:t>RGL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92807" y="1901952"/>
            <a:ext cx="30632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1956816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Regulation / regulatory instrument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1901952"/>
            <a:ext cx="37033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956816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Is this the canonical regulatory object?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9368" y="1901952"/>
            <a:ext cx="27889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956816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Regulatory source / Regulatory SME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459736"/>
            <a:ext cx="12344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2514600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2807" y="2459736"/>
            <a:ext cx="30632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2514600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Regulatory summary / interpretation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2459736"/>
            <a:ext cx="3703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514600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What makes it an RSM vs narrative text?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9368" y="2459736"/>
            <a:ext cx="27889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514600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Regulatory repository / SME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017520"/>
            <a:ext cx="12344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3072384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ROB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7" y="3017520"/>
            <a:ext cx="30632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3072384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Specific regulatory obligation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3017520"/>
            <a:ext cx="37033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072384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Is this an actionable obligation?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59368" y="3017520"/>
            <a:ext cx="27889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072384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Regulatory repository / SME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575303"/>
            <a:ext cx="12344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3630168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Policy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92807" y="3575303"/>
            <a:ext cx="30632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3630168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Internal policy governing a requirement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575303"/>
            <a:ext cx="3703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3630168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Which document is authoritative?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59368" y="3575303"/>
            <a:ext cx="27889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3630168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Policy repository / Policy 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133087"/>
            <a:ext cx="12344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" y="4187951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Procedure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92807" y="4133087"/>
            <a:ext cx="30632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4187951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Operational procedure implementing a requirement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4133087"/>
            <a:ext cx="37033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4187951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Policy vs procedure boundary?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59368" y="4133087"/>
            <a:ext cx="27889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4187951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Procedure repository / Procedure owner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690872"/>
            <a:ext cx="12344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" y="4745736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L1C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92807" y="4690872"/>
            <a:ext cx="306324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5960" y="4745736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Library control / control grouping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4690872"/>
            <a:ext cx="3703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4745736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What is the L1C→Control semantics?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59368" y="4690872"/>
            <a:ext cx="27889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32520" y="4745736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Control library / Control owner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248656"/>
            <a:ext cx="12344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19" y="5303520"/>
            <a:ext cx="10881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Control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92807" y="5248656"/>
            <a:ext cx="306324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5960" y="5303520"/>
            <a:ext cx="291693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Specific control / control activity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56048" y="5248656"/>
            <a:ext cx="37033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0" y="5303520"/>
            <a:ext cx="35570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What is the canonical control record?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59368" y="5248656"/>
            <a:ext cx="2788920" cy="557784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32520" y="5303520"/>
            <a:ext cx="2642615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Control repository / Control owner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925312"/>
            <a:ext cx="10863072" cy="365760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5971032"/>
            <a:ext cx="1049731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80" b="1">
                <a:solidFill>
                  <a:srgbClr val="DB0011"/>
                </a:solidFill>
                <a:latin typeface="Aptos"/>
              </a:rPr>
              <a:t>Business decision required: definition • canonical ID • authoritative source • owner • applicability • lifecycle /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Step 2 — Agree the relationship types, not just the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The same two entities can have different meanings depending on the relationship; this is where business semantics matter most.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1874519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499616"/>
            <a:ext cx="1728216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Relationship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444752"/>
            <a:ext cx="214884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99616"/>
            <a:ext cx="2002536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1728" y="1444752"/>
            <a:ext cx="2971800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99616"/>
            <a:ext cx="2825496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Business 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3527" y="1444752"/>
            <a:ext cx="3867912" cy="43891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499616"/>
            <a:ext cx="372160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Why AI cannot assume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901952"/>
            <a:ext cx="1874519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1956816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CONTAINS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1901952"/>
            <a:ext cx="214884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1956816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RGL → RSM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1901952"/>
            <a:ext cx="297180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956816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Regulatory hierarchy / decomposition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3527" y="1901952"/>
            <a:ext cx="3867912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956816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Text similarity cannot prove hierarchy.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441448"/>
            <a:ext cx="1874519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2496312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DECOMPOSES_TO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8" y="2441448"/>
            <a:ext cx="214884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496312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RSM → ROB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2441448"/>
            <a:ext cx="29718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496312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Summary is decomposed into obligations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53527" y="2441448"/>
            <a:ext cx="386791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2496312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Requires business interpretation.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980944"/>
            <a:ext cx="1874519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3035808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ADDRESSED_BY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32888" y="2980944"/>
            <a:ext cx="214884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3035808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ROB → Policy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2980944"/>
            <a:ext cx="297180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035808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Policy addresses the regulatory requirement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53527" y="2980944"/>
            <a:ext cx="3867912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035808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Policy may only reference the requirement.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520439"/>
            <a:ext cx="1874519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3575303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IMPLEMENTED_BY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32888" y="3520439"/>
            <a:ext cx="214884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40" y="3575303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ROB → Procedure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1728" y="3520439"/>
            <a:ext cx="29718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575303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Procedure operationalises the obligation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53527" y="3520439"/>
            <a:ext cx="386791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79" y="3575303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A document may describe, not implement.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059935"/>
            <a:ext cx="1874519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19" y="4114799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IMPLEMENTS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32888" y="4059935"/>
            <a:ext cx="214884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4114799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Policy → Control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81728" y="4059935"/>
            <a:ext cx="297180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4114799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Control implements the policy requirement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53527" y="4059935"/>
            <a:ext cx="3867912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79" y="4114799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Similarity does not establish control intent.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599431"/>
            <a:ext cx="1874519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" y="4654295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IMPLEMENTS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32888" y="4599431"/>
            <a:ext cx="214884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40" y="4654295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Procedure → Control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81728" y="4599431"/>
            <a:ext cx="29718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4654295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Control operationalises the procedure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53527" y="4599431"/>
            <a:ext cx="386791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26679" y="4654295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Need control-owner confirmation.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138927"/>
            <a:ext cx="1874519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19" y="5193791"/>
            <a:ext cx="172821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231F20"/>
                </a:solidFill>
                <a:latin typeface="Aptos"/>
              </a:rPr>
              <a:t>APPLIES_TO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32888" y="5138927"/>
            <a:ext cx="214884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40" y="5193791"/>
            <a:ext cx="200253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Control → Asset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81728" y="5138927"/>
            <a:ext cx="2971800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5193791"/>
            <a:ext cx="2825496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Control is applicable to an asset / process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53527" y="5138927"/>
            <a:ext cx="3867912" cy="539496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26679" y="5193791"/>
            <a:ext cx="3721608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231F20"/>
                </a:solidFill>
                <a:latin typeface="Aptos"/>
              </a:rPr>
              <a:t>Applicability is business context.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779008"/>
            <a:ext cx="10863072" cy="521207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5833872"/>
            <a:ext cx="10497312" cy="40233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231F20"/>
                </a:solidFill>
                <a:latin typeface="Aptos"/>
              </a:rPr>
              <a:t>Example: ROB → Policy could be ADDRESSED_BY, REFERENCES, SUPPORTED_BY or NO RELATIONSHIP.  The LLM can rank candidates; the business defines the semantic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Step 3 — See what the AI-assisted mapping actually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A worked ROB → Policy example makes the human decision points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24612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1 • SOURCE /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31F20"/>
                </a:solidFill>
                <a:latin typeface="Aptos"/>
              </a:rPr>
              <a:t>Regulatory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788920" cy="9326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231F20"/>
                </a:solidFill>
                <a:latin typeface="Aptos"/>
              </a:rPr>
              <a:t>“The firm must maintain effective procedures for monitoring employee communications.”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31F20"/>
                </a:solidFill>
                <a:latin typeface="Aptos"/>
              </a:rPr>
              <a:t>Internal policy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2743200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231F20"/>
                </a:solidFill>
                <a:latin typeface="Aptos"/>
              </a:rPr>
              <a:t>Electronic Communications
Surveillance Policy — v3.2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27432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9" b="0">
                <a:solidFill>
                  <a:srgbClr val="5F5F5F"/>
                </a:solidFill>
                <a:latin typeface="Aptos"/>
              </a:rPr>
              <a:t>Evidence: Policy §4.2 discusses monitoring of employee communications.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3474720"/>
            <a:ext cx="521209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35424" y="1508760"/>
            <a:ext cx="3063240" cy="4206240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719072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2 • AI /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993392"/>
            <a:ext cx="256032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31F20"/>
                </a:solidFill>
                <a:latin typeface="Aptos"/>
              </a:rPr>
              <a:t>Candidate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414016"/>
            <a:ext cx="260604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231F20"/>
                </a:solidFill>
                <a:latin typeface="Aptos"/>
              </a:rPr>
              <a:t>ROB-1045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880360"/>
            <a:ext cx="260604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→ ADDRESSED_BY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337560"/>
            <a:ext cx="2606040" cy="5669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231F20"/>
                </a:solidFill>
                <a:latin typeface="Aptos"/>
              </a:rPr>
              <a:t>Electronic Communications
Surveillance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60520"/>
            <a:ext cx="260604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231F20"/>
                </a:solidFill>
                <a:latin typeface="Aptos"/>
              </a:rPr>
              <a:t>Confidence: 0.91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617720"/>
            <a:ext cx="260604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80" b="0">
                <a:solidFill>
                  <a:srgbClr val="5F5F5F"/>
                </a:solidFill>
                <a:latin typeface="Aptos"/>
              </a:rPr>
              <a:t>AI surfaces evidence + candidate; it does not approve the edge.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71816" y="3474720"/>
            <a:ext cx="521208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1508760"/>
            <a:ext cx="329184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719072"/>
            <a:ext cx="365760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VALIDATE /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93392"/>
            <a:ext cx="283464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231F20"/>
                </a:solidFill>
                <a:latin typeface="Aptos"/>
              </a:rPr>
              <a:t>Business / SME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468880"/>
            <a:ext cx="278892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90" b="0">
                <a:solidFill>
                  <a:srgbClr val="231F20"/>
                </a:solidFill>
                <a:latin typeface="Aptos"/>
              </a:rPr>
              <a:t>✓ Is ROB-1045 correctly classified?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962656"/>
            <a:ext cx="278892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90" b="0">
                <a:solidFill>
                  <a:srgbClr val="231F20"/>
                </a:solidFill>
                <a:latin typeface="Aptos"/>
              </a:rPr>
              <a:t>✓ Is this the authoritative Policy?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456432"/>
            <a:ext cx="278892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90" b="0">
                <a:solidFill>
                  <a:srgbClr val="231F20"/>
                </a:solidFill>
                <a:latin typeface="Aptos"/>
              </a:rPr>
              <a:t>✓ Does ADDRESSED_BY mean what we intend?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50208"/>
            <a:ext cx="278892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90" b="0">
                <a:solidFill>
                  <a:srgbClr val="231F20"/>
                </a:solidFill>
                <a:latin typeface="Aptos"/>
              </a:rPr>
              <a:t>✓ Does the Policy actually address the ROB?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443984"/>
            <a:ext cx="2788920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90" b="0">
                <a:solidFill>
                  <a:srgbClr val="231F20"/>
                </a:solidFill>
                <a:latin typeface="Aptos"/>
              </a:rPr>
              <a:t>✓ Is the relationship applicable?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4983480"/>
            <a:ext cx="2788920" cy="457200"/>
          </a:xfrm>
          <a:prstGeom prst="round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029200"/>
            <a:ext cx="265176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APPROVED → VERSIONED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What we need from the business to complete Workstream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These are the dependencies that turn a technical graph exercise into a trusted compliance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5296" y="1481328"/>
            <a:ext cx="21488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53619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ENTITY 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1481328"/>
            <a:ext cx="502920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53619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Confirm what RGL / RSM / ROB / Policy / Procedure / L1C / Control mean.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3336" y="1481328"/>
            <a:ext cx="3118104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153619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Regulatory SMEs + Control / Policy 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7568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2140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2075688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13055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AUTHORITATIVE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075688"/>
            <a:ext cx="5029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13055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Identify the golden source for each entity and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2075688"/>
            <a:ext cx="311810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13055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Data owners + business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67004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1576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5296" y="2670048"/>
            <a:ext cx="21488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272491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RELATIONSHIP SEMANTICS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4136" y="2670048"/>
            <a:ext cx="502920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3864" y="272491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Agree what ADDRESSED_BY, IMPLEMENTED_BY, CONTAINS, etc. mean.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3336" y="2670048"/>
            <a:ext cx="3118104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72491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Regulatory SMEs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26440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310127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5296" y="3264408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331927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APPLICABILITY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74136" y="3264408"/>
            <a:ext cx="5029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83864" y="331927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Define jurisdiction, business / LOB and scope rules.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03336" y="3264408"/>
            <a:ext cx="311810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331927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Regulatory SMEs + business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385876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904487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25296" y="3858768"/>
            <a:ext cx="21488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3913631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MAPPING VALIDATION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4136" y="3858768"/>
            <a:ext cx="502920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3864" y="3913631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Confirm/reject AI-generated candidate mappings and evidence.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3336" y="3858768"/>
            <a:ext cx="3118104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4" y="3913631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Named SMEs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45312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49884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25296" y="4453128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5880" y="450799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OWNERSHIP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74136" y="4453128"/>
            <a:ext cx="5029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3864" y="450799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Nominate accountable owners for semantic changes and approvals.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03336" y="4453128"/>
            <a:ext cx="311810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50799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Business leadership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504748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09320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5296" y="5047488"/>
            <a:ext cx="214884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5880" y="510235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CHANGE CONTROL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74136" y="5047488"/>
            <a:ext cx="502920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83864" y="510235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Define versioning, change request and re-validation process.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03336" y="5047488"/>
            <a:ext cx="3118104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510235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Ontology owner + Engineering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5641848"/>
            <a:ext cx="530352" cy="566928"/>
          </a:xfrm>
          <a:prstGeom prst="round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5687568"/>
            <a:ext cx="530352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25296" y="5641848"/>
            <a:ext cx="2148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25880" y="5696712"/>
            <a:ext cx="19385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60" b="1">
                <a:solidFill>
                  <a:srgbClr val="231F20"/>
                </a:solidFill>
                <a:latin typeface="Aptos"/>
              </a:rPr>
              <a:t>ACCEPTANCE CRITERIA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4136" y="5641848"/>
            <a:ext cx="5029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83864" y="5696712"/>
            <a:ext cx="4809744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30" b="0">
                <a:solidFill>
                  <a:srgbClr val="231F20"/>
                </a:solidFill>
                <a:latin typeface="Aptos"/>
              </a:rPr>
              <a:t>Agree when the baseline graph is complete / trusted enough to use.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03336" y="5641848"/>
            <a:ext cx="311810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13064" y="5696712"/>
            <a:ext cx="2898648" cy="4297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10" b="0">
                <a:solidFill>
                  <a:srgbClr val="5F5F5F"/>
                </a:solidFill>
                <a:latin typeface="Aptos"/>
              </a:rPr>
              <a:t>Business + Data / AI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" y="6291072"/>
            <a:ext cx="10863072" cy="228600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6300216"/>
            <a:ext cx="10497312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KEY MESSAGE: We are not asking the business to draw the graph — we are asking the business to define and validate the meaning that the graph represents.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201168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DB0011"/>
                </a:solidFill>
                <a:latin typeface="Aptos"/>
              </a:rPr>
              <a:t>3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097280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DB0011"/>
                </a:solidFill>
                <a:latin typeface="Aptos"/>
              </a:rPr>
              <a:t>Who does what — and how the ontology stays evergreen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Regulatory owns business meaning; Data / AI accelerates discovery; Graph Engineering implements the approved, versioned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9672"/>
            <a:ext cx="36576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1">
                <a:solidFill>
                  <a:srgbClr val="5F5F5F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2004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5F5F5F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213969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63040"/>
            <a:ext cx="2139696" cy="5029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36776"/>
            <a:ext cx="1956816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231F20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195681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231F20"/>
                </a:solidFill>
                <a:latin typeface="Aptos"/>
              </a:rPr>
              <a:t>Existing entities
+ relationships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16352" y="1938528"/>
            <a:ext cx="128016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62656" y="1463040"/>
            <a:ext cx="213969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2656" y="1463040"/>
            <a:ext cx="2139696" cy="50292"/>
          </a:xfrm>
          <a:prstGeom prst="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1636776"/>
            <a:ext cx="1956816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DB0011"/>
                </a:solidFill>
                <a:latin typeface="Apto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1920240"/>
            <a:ext cx="195681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231F20"/>
                </a:solidFill>
                <a:latin typeface="Aptos"/>
              </a:rPr>
              <a:t>Canonical entities
+ relationship types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1938528"/>
            <a:ext cx="128016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66944" y="1463040"/>
            <a:ext cx="213969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66944" y="1463040"/>
            <a:ext cx="2139696" cy="5029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1636776"/>
            <a:ext cx="1956816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231F20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1920240"/>
            <a:ext cx="195681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231F20"/>
                </a:solidFill>
                <a:latin typeface="Aptos"/>
              </a:rPr>
              <a:t>SME / domain
challenge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24927" y="1938528"/>
            <a:ext cx="128017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71232" y="1463040"/>
            <a:ext cx="213969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71232" y="1463040"/>
            <a:ext cx="2139696" cy="50292"/>
          </a:xfrm>
          <a:prstGeom prst="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1636776"/>
            <a:ext cx="1956816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DB0011"/>
                </a:solidFill>
                <a:latin typeface="Aptos"/>
              </a:rPr>
              <a:t>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1920240"/>
            <a:ext cx="195681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231F20"/>
                </a:solidFill>
                <a:latin typeface="Aptos"/>
              </a:rPr>
              <a:t>Proposed owner
sign-off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9216" y="1938528"/>
            <a:ext cx="128016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75520" y="1463040"/>
            <a:ext cx="2139696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20" y="1463040"/>
            <a:ext cx="2139696" cy="50292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636776"/>
            <a:ext cx="1956816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231F20"/>
                </a:solidFill>
                <a:latin typeface="Aptos"/>
              </a:rPr>
              <a:t>EVERGREEN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920240"/>
            <a:ext cx="1956816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231F20"/>
                </a:solidFill>
                <a:latin typeface="Aptos"/>
              </a:rPr>
              <a:t>Change request
+ 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834640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2834640"/>
            <a:ext cx="73152" cy="658368"/>
          </a:xfrm>
          <a:prstGeom prst="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2907792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1">
                <a:solidFill>
                  <a:srgbClr val="DB0011"/>
                </a:solidFill>
                <a:latin typeface="Aptos"/>
              </a:rPr>
              <a:t>Regulatory SMEs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2907792"/>
            <a:ext cx="8211312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231F20"/>
                </a:solidFill>
                <a:latin typeface="Aptos"/>
              </a:rPr>
              <a:t>Define business meaning, challenge relationship semantics, validate applicability.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584448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3584448"/>
            <a:ext cx="73152" cy="658368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365760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1">
                <a:solidFill>
                  <a:srgbClr val="231F20"/>
                </a:solidFill>
                <a:latin typeface="Aptos"/>
              </a:rPr>
              <a:t>Data / AI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657600"/>
            <a:ext cx="8211312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231F20"/>
                </a:solidFill>
                <a:latin typeface="Aptos"/>
              </a:rPr>
              <a:t>Use linkage evidence to discover candidate entities / relationships; maintain mappings.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334256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34256"/>
            <a:ext cx="73152" cy="658368"/>
          </a:xfrm>
          <a:prstGeom prst="rect">
            <a:avLst/>
          </a:prstGeom>
          <a:solidFill>
            <a:srgbClr val="231F20"/>
          </a:solidFill>
          <a:ln w="1016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407408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1">
                <a:solidFill>
                  <a:srgbClr val="231F20"/>
                </a:solidFill>
                <a:latin typeface="Aptos"/>
              </a:rPr>
              <a:t>Graph / Data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4407408"/>
            <a:ext cx="8211312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231F20"/>
                </a:solidFill>
                <a:latin typeface="Aptos"/>
              </a:rPr>
              <a:t>Implement schema, constraints, versioning and graph deployment.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84064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084064"/>
            <a:ext cx="73152" cy="658368"/>
          </a:xfrm>
          <a:prstGeom prst="rect">
            <a:avLst/>
          </a:prstGeom>
          <a:solidFill>
            <a:srgbClr val="DB0011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157216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1">
                <a:solidFill>
                  <a:srgbClr val="DB0011"/>
                </a:solidFill>
                <a:latin typeface="Aptos"/>
              </a:rPr>
              <a:t>Proposed Regulatory 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9232" y="5157216"/>
            <a:ext cx="8211312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231F20"/>
                </a:solidFill>
                <a:latin typeface="Aptos"/>
              </a:rPr>
              <a:t>Accountable for semantic changes and versions; confirms approval / pilot.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925312"/>
            <a:ext cx="10863072" cy="393192"/>
          </a:xfrm>
          <a:prstGeom prst="roundRect">
            <a:avLst/>
          </a:prstGeom>
          <a:solidFill>
            <a:srgbClr val="FCEBED"/>
          </a:solidFill>
          <a:ln w="1016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5971032"/>
            <a:ext cx="10497312" cy="28346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69" b="1">
                <a:solidFill>
                  <a:srgbClr val="DB0011"/>
                </a:solidFill>
                <a:latin typeface="Aptos"/>
              </a:rPr>
              <a:t>NO SILENT CHANGES: a semantic change → change request → SME validation → owner approval → new ontology / graph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