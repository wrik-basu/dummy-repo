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Golden records alert-&gt;regulation only; control/risk links are inherited by crediting every descendant of a matched regulation. Worked example: 1 regulation -&gt; 12 risks credited; model links the 3 the alert matched (correct); other 9 logged as misses but none is an error. Naive recall divides by the inflated 12; honest recall divides by the audited 3. Same model, different ruler. Native-grain levels (RGL, ROB) already read 92-95%.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74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DB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recall reads low — the answer-key over-claims, the model doesn't</a:t>
            </a:r>
            <a:endParaRPr lang="en-US" sz="29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golden dataset records alert → regulation links only. Control and risk links are manufactured by crediting everything beneath a regulation.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3246120" cy="36576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4630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What the golden holds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3246120" cy="777240"/>
          </a:xfrm>
          <a:prstGeom prst="roundRect">
            <a:avLst>
              <a:gd name="adj" fmla="val 7059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2011680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Regulation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by SME · native grain  ✓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907792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90779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Control:  not recorded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56616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Risk:  not recorded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2062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RSM column is blank: 3 real values of 2,184.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49040" y="2788920"/>
            <a:ext cx="384048" cy="0"/>
          </a:xfrm>
          <a:prstGeom prst="line">
            <a:avLst/>
          </a:prstGeom>
          <a:noFill/>
          <a:ln w="31750">
            <a:solidFill>
              <a:srgbClr val="DB001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160520" y="1463040"/>
            <a:ext cx="3977640" cy="36576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146304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So links get manufactured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196596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regulation the alert matched  →  golden credits all 12 risks beneath it: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206240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20624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36592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736592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266944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66944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797296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27648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2331720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06240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36592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266944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797296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27648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858000" y="2862072"/>
            <a:ext cx="420624" cy="420624"/>
          </a:xfrm>
          <a:prstGeom prst="roundRect">
            <a:avLst>
              <a:gd name="adj" fmla="val 10870"/>
            </a:avLst>
          </a:prstGeom>
          <a:solidFill>
            <a:srgbClr val="EFEF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160520" y="340156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green</a:t>
            </a:r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model links the risks the alert genuinely matched — all correct.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160520" y="371246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gray</a:t>
            </a:r>
            <a:pPr indent="0" marL="0">
              <a:buNone/>
            </a:pPr>
            <a:r>
              <a:rPr lang="en-US" sz="1200" dirty="0">
                <a:solidFill>
                  <a:srgbClr val="2F2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logged as “misses.” None is a model error — the model was right to skip them.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772400" y="2788920"/>
            <a:ext cx="384048" cy="0"/>
          </a:xfrm>
          <a:prstGeom prst="line">
            <a:avLst/>
          </a:prstGeom>
          <a:noFill/>
          <a:ln w="31750">
            <a:solidFill>
              <a:srgbClr val="DB0011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8211312" y="1463040"/>
            <a:ext cx="3520440" cy="365760"/>
          </a:xfrm>
          <a:prstGeom prst="roundRect">
            <a:avLst>
              <a:gd name="adj" fmla="val 15000"/>
            </a:avLst>
          </a:prstGeom>
          <a:solidFill>
            <a:srgbClr val="595959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211312" y="1463040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Two denominators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11312" y="201168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FBE4E4"/>
          </a:solidFill>
          <a:ln w="12700">
            <a:solidFill>
              <a:srgbClr val="A32D2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375904" y="201168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  </a:t>
            </a:r>
            <a:pPr indent="0" marL="0">
              <a:buNone/>
            </a:pPr>
            <a:r>
              <a:rPr lang="en-US" sz="1400" b="1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naïve</a:t>
            </a:r>
            <a:pPr indent="0" marL="0"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1150" dirty="0">
                <a:solidFill>
                  <a:srgbClr val="A3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÷ all 12 claimed — counts correct rejections as misses</a:t>
            </a:r>
            <a:endParaRPr lang="en-US" sz="3000" dirty="0"/>
          </a:p>
        </p:txBody>
      </p:sp>
      <p:sp>
        <p:nvSpPr>
          <p:cNvPr id="39" name="Shape 37"/>
          <p:cNvSpPr/>
          <p:nvPr/>
        </p:nvSpPr>
        <p:spPr>
          <a:xfrm>
            <a:off x="8211312" y="3063240"/>
            <a:ext cx="3520440" cy="914400"/>
          </a:xfrm>
          <a:prstGeom prst="roundRect">
            <a:avLst>
              <a:gd name="adj" fmla="val 6000"/>
            </a:avLst>
          </a:prstGeom>
          <a:solidFill>
            <a:srgbClr val="E2EFDA"/>
          </a:solidFill>
          <a:ln w="12700">
            <a:solidFill>
              <a:srgbClr val="548235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75904" y="3063240"/>
            <a:ext cx="3191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  </a:t>
            </a:r>
            <a:pPr indent="0" marL="0">
              <a:buNone/>
            </a:pPr>
            <a:r>
              <a:rPr lang="en-US" sz="1400" b="1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</a:t>
            </a:r>
            <a:pPr indent="0" marL="0">
              <a:buNone/>
            </a:pPr>
            <a:endParaRPr lang="en-US" sz="3000" dirty="0"/>
          </a:p>
          <a:p>
            <a:pPr indent="0" marL="0">
              <a:buNone/>
            </a:pPr>
            <a:r>
              <a:rPr lang="en-US" sz="1150" dirty="0">
                <a:solidFill>
                  <a:srgbClr val="375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÷ the 3 real links — audit strips the manufactured ones</a:t>
            </a:r>
            <a:endParaRPr lang="en-US" sz="3000" dirty="0"/>
          </a:p>
        </p:txBody>
      </p:sp>
      <p:sp>
        <p:nvSpPr>
          <p:cNvPr id="41" name="Shape 39"/>
          <p:cNvSpPr/>
          <p:nvPr/>
        </p:nvSpPr>
        <p:spPr>
          <a:xfrm>
            <a:off x="457200" y="5074920"/>
            <a:ext cx="11274552" cy="1371600"/>
          </a:xfrm>
          <a:prstGeom prst="roundRect">
            <a:avLst>
              <a:gd name="adj" fmla="val 5333"/>
            </a:avLst>
          </a:prstGeom>
          <a:solidFill>
            <a:srgbClr val="1F3864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85800" y="52303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IS DESTINY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685800" y="5559552"/>
            <a:ext cx="10789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golden is written at the model's grain — RGL 92%, ROB 95% — recall is already right. It only collapses where the golden is exploded down to controls and risks.</a:t>
            </a:r>
            <a:endParaRPr lang="en-US" sz="1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all five levels:  naïve 23–36%  →  honest 92–96%.   Independently audited true error ≈ 2%.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2026-09-17T10:26:26Z</dcterms:created>
  <dcterms:modified xsi:type="dcterms:W3CDTF">2026-09-17T10:26:26Z</dcterms:modified>
</cp:coreProperties>
</file>