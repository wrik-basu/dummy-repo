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68580" cy="6858000"/>
          </a:xfrm>
          <a:prstGeom prst="round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DB0011"/>
                </a:solidFill>
                <a:latin typeface="Arial"/>
              </a:defRPr>
            </a:pPr>
            <a:r>
              <a:t>01 / EXECUTIVE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231F20"/>
                </a:solidFill>
                <a:latin typeface="Arial"/>
              </a:defRPr>
            </a:pPr>
            <a:r>
              <a:t>Regulatory Compliance &amp; Risk Ontology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69264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6E6F6E"/>
                </a:solidFill>
                <a:latin typeface="Arial"/>
              </a:defRPr>
            </a:pPr>
            <a:r>
              <a:t>A graph database approach to Governance, Risk and Compliance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6748272"/>
            <a:ext cx="12191695" cy="109728"/>
          </a:xfrm>
          <a:prstGeom prst="round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6480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6E6F6E"/>
                </a:solidFill>
                <a:latin typeface="Arial"/>
              </a:defRPr>
            </a:pPr>
            <a:r>
              <a:t>DATA &amp; GOVERNANCE ENGINEERING  |  REGULATORY COMPLIANCE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1481328"/>
            <a:ext cx="4846320" cy="21945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DB0011"/>
                </a:solidFill>
                <a:latin typeface="Arial"/>
              </a:defRPr>
            </a:pPr>
            <a:r>
              <a:t>THE SHIFT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1792" y="1828800"/>
            <a:ext cx="480060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100" b="1">
                <a:solidFill>
                  <a:srgbClr val="231F20"/>
                </a:solidFill>
                <a:latin typeface="Arial"/>
              </a:defRPr>
            </a:pPr>
            <a:r>
              <a:t>From static compliance</a:t>
            </a:r>
            <a:br/>
            <a:r>
              <a:t>content → connected intelligence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3063240"/>
            <a:ext cx="461772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6E6F6E"/>
                </a:solidFill>
                <a:latin typeface="Arial"/>
              </a:defRPr>
            </a:pPr>
            <a:r>
              <a:t>Represent regulatory concepts as nodes, semantics as typed edges, and assurance as evidence-backed state.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" y="4434840"/>
            <a:ext cx="1508760" cy="1078992"/>
          </a:xfrm>
          <a:prstGeom prst="roundRect">
            <a:avLst/>
          </a:prstGeom>
          <a:solidFill>
            <a:srgbClr val="231F20"/>
          </a:solidFill>
          <a:ln w="1270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1520" y="4626864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6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919472"/>
            <a:ext cx="1280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4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Multi-hop relationships become queryable.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359152" y="4434840"/>
            <a:ext cx="1508760" cy="1078992"/>
          </a:xfrm>
          <a:prstGeom prst="roundRect">
            <a:avLst/>
          </a:prstGeom>
          <a:solidFill>
            <a:srgbClr val="F7F7F5"/>
          </a:solidFill>
          <a:ln w="12700">
            <a:solidFill>
              <a:srgbClr val="C3C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468880" y="4626864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60" b="1">
                <a:solidFill>
                  <a:srgbClr val="DB0011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ONTOLOGY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468880" y="4919472"/>
            <a:ext cx="1280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4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Concepts and semantics are standardised.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096512" y="4434840"/>
            <a:ext cx="1508760" cy="1078992"/>
          </a:xfrm>
          <a:prstGeom prst="roundRect">
            <a:avLst/>
          </a:prstGeom>
          <a:solidFill>
            <a:srgbClr val="F7F7F5"/>
          </a:solidFill>
          <a:ln w="12700">
            <a:solidFill>
              <a:srgbClr val="C3C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206240" y="4626864"/>
            <a:ext cx="12801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60" b="1">
                <a:solidFill>
                  <a:srgbClr val="DB0011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EVIDENCE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206240" y="4919472"/>
            <a:ext cx="1280160" cy="3840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4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Impact is supported by observable proof.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1481328"/>
            <a:ext cx="5440680" cy="4754880"/>
          </a:xfrm>
          <a:prstGeom prst="rect">
            <a:avLst/>
          </a:prstGeom>
          <a:solidFill>
            <a:srgbClr val="FAFAF9"/>
          </a:solidFill>
          <a:ln w="12700">
            <a:solidFill>
              <a:srgbClr val="C3C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355080" y="1719072"/>
            <a:ext cx="48463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 b="1">
                <a:solidFill>
                  <a:srgbClr val="DB0011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LPG — REGULATORY → GOVERNANCE → CONTROL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183879" y="2011680"/>
            <a:ext cx="1417320" cy="420624"/>
          </a:xfrm>
          <a:prstGeom prst="roundRect">
            <a:avLst/>
          </a:prstGeom>
          <a:solidFill>
            <a:srgbClr val="231F20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REGULATOR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355080" y="2761488"/>
            <a:ext cx="1508760" cy="420624"/>
          </a:xfrm>
          <a:prstGeom prst="roundRect">
            <a:avLst/>
          </a:prstGeom>
          <a:solidFill>
            <a:srgbClr val="9FA1A4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JURISDICTION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21040" y="2761488"/>
            <a:ext cx="1508760" cy="420624"/>
          </a:xfrm>
          <a:prstGeom prst="roundRect">
            <a:avLst/>
          </a:prstGeom>
          <a:solidFill>
            <a:srgbClr val="DB0011"/>
          </a:solidFill>
          <a:ln w="1905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REGULATION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10104120" y="2761488"/>
            <a:ext cx="1417320" cy="4206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OBLIGATION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275320" y="3703320"/>
            <a:ext cx="1325880" cy="4206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POLICY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10104120" y="3703320"/>
            <a:ext cx="1417320" cy="420624"/>
          </a:xfrm>
          <a:prstGeom prst="roundRect">
            <a:avLst/>
          </a:prstGeom>
          <a:solidFill>
            <a:srgbClr val="DB0011"/>
          </a:solidFill>
          <a:ln w="1905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CONTROL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6400800" y="4754880"/>
            <a:ext cx="1417320" cy="420624"/>
          </a:xfrm>
          <a:prstGeom prst="roundRect">
            <a:avLst/>
          </a:prstGeom>
          <a:solidFill>
            <a:srgbClr val="231F20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6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LOB / ENTITY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275320" y="4754880"/>
            <a:ext cx="1508760" cy="420624"/>
          </a:xfrm>
          <a:prstGeom prst="roundRect">
            <a:avLst/>
          </a:prstGeom>
          <a:solidFill>
            <a:srgbClr val="9FA1A4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TARGET ASSET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10104120" y="4754880"/>
            <a:ext cx="1417320" cy="420624"/>
          </a:xfrm>
          <a:prstGeom prst="roundRect">
            <a:avLst/>
          </a:prstGeom>
          <a:solidFill>
            <a:srgbClr val="9FA1A4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78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EVIDENCE</a:t>
            </a:r>
          </a:p>
        </p:txBody>
      </p:sp>
      <p:cxnSp>
        <p:nvCxnSpPr>
          <p:cNvPr id="32" name="Connector 31"/>
          <p:cNvCxnSpPr/>
          <p:nvPr/>
        </p:nvCxnSpPr>
        <p:spPr>
          <a:xfrm flipH="1">
            <a:off x="7863840" y="2432304"/>
            <a:ext cx="320039" cy="329184"/>
          </a:xfrm>
          <a:prstGeom prst="line">
            <a:avLst/>
          </a:prstGeom>
          <a:ln w="2032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452360" y="2487168"/>
            <a:ext cx="1051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80" b="1">
                <a:solidFill>
                  <a:srgbClr val="DB0011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ENFORCES_IN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863840" y="2971800"/>
            <a:ext cx="457200" cy="0"/>
          </a:xfrm>
          <a:prstGeom prst="line">
            <a:avLst/>
          </a:prstGeom>
          <a:ln w="15240">
            <a:solidFill>
              <a:srgbClr val="6E6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360920" y="275234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80" b="1">
                <a:solidFill>
                  <a:srgbClr val="6E6F6E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APPLIES_IN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9829800" y="2971800"/>
            <a:ext cx="274320" cy="0"/>
          </a:xfrm>
          <a:prstGeom prst="line">
            <a:avLst/>
          </a:prstGeom>
          <a:ln w="15240">
            <a:solidFill>
              <a:srgbClr val="6E6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9710928" y="2752344"/>
            <a:ext cx="91440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80" b="1">
                <a:solidFill>
                  <a:srgbClr val="6E6F6E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CONTAINS</a:t>
            </a:r>
          </a:p>
        </p:txBody>
      </p:sp>
      <p:cxnSp>
        <p:nvCxnSpPr>
          <p:cNvPr id="38" name="Connector 37"/>
          <p:cNvCxnSpPr/>
          <p:nvPr/>
        </p:nvCxnSpPr>
        <p:spPr>
          <a:xfrm flipH="1">
            <a:off x="9098280" y="3182112"/>
            <a:ext cx="1709928" cy="521208"/>
          </a:xfrm>
          <a:prstGeom prst="line">
            <a:avLst/>
          </a:prstGeom>
          <a:ln w="2159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9528048" y="3246120"/>
            <a:ext cx="109728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80" b="1">
                <a:solidFill>
                  <a:srgbClr val="DB0011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GOVERNS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9601200" y="3913632"/>
            <a:ext cx="502920" cy="0"/>
          </a:xfrm>
          <a:prstGeom prst="line">
            <a:avLst/>
          </a:prstGeom>
          <a:ln w="2159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9509760" y="3703320"/>
            <a:ext cx="1051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80" b="1">
                <a:solidFill>
                  <a:srgbClr val="DB0011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MANDATES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9784080" y="4123944"/>
            <a:ext cx="1024128" cy="630936"/>
          </a:xfrm>
          <a:prstGeom prst="line">
            <a:avLst/>
          </a:prstGeom>
          <a:ln w="1905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10012680" y="4270248"/>
            <a:ext cx="96012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80" b="1">
                <a:solidFill>
                  <a:srgbClr val="DB0011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APPLIES_TO</a:t>
            </a:r>
          </a:p>
        </p:txBody>
      </p:sp>
      <p:cxnSp>
        <p:nvCxnSpPr>
          <p:cNvPr id="44" name="Connector 43"/>
          <p:cNvCxnSpPr/>
          <p:nvPr/>
        </p:nvCxnSpPr>
        <p:spPr>
          <a:xfrm flipH="1">
            <a:off x="10808208" y="4123944"/>
            <a:ext cx="164592" cy="630936"/>
          </a:xfrm>
          <a:prstGeom prst="line">
            <a:avLst/>
          </a:prstGeom>
          <a:ln w="15240">
            <a:solidFill>
              <a:srgbClr val="6E6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10744200" y="4279392"/>
            <a:ext cx="77724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80" b="1">
                <a:solidFill>
                  <a:srgbClr val="6E6F6E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VALIDATES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7818120" y="4965192"/>
            <a:ext cx="457200" cy="0"/>
          </a:xfrm>
          <a:prstGeom prst="line">
            <a:avLst/>
          </a:prstGeom>
          <a:ln w="15240">
            <a:solidFill>
              <a:srgbClr val="231F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7607808" y="4736592"/>
            <a:ext cx="1051560" cy="20116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68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OWNS / OPERATES</a:t>
            </a:r>
          </a:p>
        </p:txBody>
      </p:sp>
      <p:sp>
        <p:nvSpPr>
          <p:cNvPr id="48" name="Rectangle 47"/>
          <p:cNvSpPr/>
          <p:nvPr/>
        </p:nvSpPr>
        <p:spPr>
          <a:xfrm>
            <a:off x="6355080" y="5715000"/>
            <a:ext cx="4892040" cy="347472"/>
          </a:xfrm>
          <a:prstGeom prst="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Ontology path: Obligation → Policy → Control → Asset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68580" cy="6858000"/>
          </a:xfrm>
          <a:prstGeom prst="round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DB0011"/>
                </a:solidFill>
                <a:latin typeface="Arial"/>
              </a:defRPr>
            </a:pPr>
            <a:r>
              <a:t>02 / ONTOLOGY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231F20"/>
                </a:solidFill>
                <a:latin typeface="Arial"/>
              </a:defRPr>
            </a:pPr>
            <a:r>
              <a:t>The ontology has three distinct layers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69264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6E6F6E"/>
                </a:solidFill>
                <a:latin typeface="Arial"/>
              </a:defRPr>
            </a:pPr>
            <a:r>
              <a:t>Avoid mixing entities, relationship semantics and assurance state.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6748272"/>
            <a:ext cx="12191695" cy="109728"/>
          </a:xfrm>
          <a:prstGeom prst="round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6480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6E6F6E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DATA &amp; GOVERNANCE ENGINEERING  |  REGULATORY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37376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DB0011"/>
                </a:solidFill>
                <a:latin typeface="Arial"/>
              </a:defRPr>
            </a:pPr>
            <a:r>
              <a:t>02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" y="1554480"/>
            <a:ext cx="32461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C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621792" y="1554480"/>
            <a:ext cx="3246120" cy="73152"/>
          </a:xfrm>
          <a:prstGeom prst="round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184708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ENTITIES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2194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E6F6E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What exists?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160520" y="1554480"/>
            <a:ext cx="32461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C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ounded Rectangle 13"/>
          <p:cNvSpPr/>
          <p:nvPr/>
        </p:nvSpPr>
        <p:spPr>
          <a:xfrm>
            <a:off x="4160520" y="1554480"/>
            <a:ext cx="3246120" cy="73152"/>
          </a:xfrm>
          <a:prstGeom prst="round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79976" y="184708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SEMANTICS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79976" y="2194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E6F6E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How are they connected?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699248" y="1554480"/>
            <a:ext cx="324612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C3C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7699248" y="1554480"/>
            <a:ext cx="3246120" cy="73152"/>
          </a:xfrm>
          <a:prstGeom prst="round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918704" y="1847088"/>
            <a:ext cx="274320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5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ASSURANCE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18704" y="2194560"/>
            <a:ext cx="2743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6E6F6E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What proves the connection?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41248" y="2743200"/>
            <a:ext cx="2788920" cy="265176"/>
          </a:xfrm>
          <a:prstGeom prst="roundRect">
            <a:avLst/>
          </a:prstGeom>
          <a:solidFill>
            <a:srgbClr val="231F20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86968" y="2761488"/>
            <a:ext cx="2697479" cy="228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8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Regulator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1248" y="3090672"/>
            <a:ext cx="2788920" cy="26517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6968" y="3108960"/>
            <a:ext cx="2697479" cy="228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8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Jurisdiction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41248" y="3438144"/>
            <a:ext cx="2788920" cy="26517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86968" y="3456432"/>
            <a:ext cx="2697479" cy="228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8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Regulation / Standard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841248" y="3785616"/>
            <a:ext cx="2788920" cy="26517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86968" y="3803904"/>
            <a:ext cx="2697479" cy="228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8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Obligation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841248" y="4133087"/>
            <a:ext cx="2788920" cy="26517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86968" y="4151375"/>
            <a:ext cx="2697479" cy="228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8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LOB / Entity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841248" y="4480560"/>
            <a:ext cx="2788920" cy="26517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86968" y="4498848"/>
            <a:ext cx="2697479" cy="228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8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Target Asset / System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841248" y="4828032"/>
            <a:ext cx="2788920" cy="26517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86968" y="4846320"/>
            <a:ext cx="2697479" cy="228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8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Policy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841248" y="5175504"/>
            <a:ext cx="2788920" cy="26517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86968" y="5193792"/>
            <a:ext cx="2697479" cy="228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8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Control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41248" y="5522976"/>
            <a:ext cx="2788920" cy="26517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86968" y="5541264"/>
            <a:ext cx="2697479" cy="228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231F20"/>
                </a:solidFill>
                <a:latin typeface="Arial"/>
              </a:defRPr>
            </a:pPr>
          </a:p>
        </p:txBody>
      </p:sp>
      <p:sp>
        <p:nvSpPr>
          <p:cNvPr id="39" name="Rounded Rectangle 38"/>
          <p:cNvSpPr/>
          <p:nvPr/>
        </p:nvSpPr>
        <p:spPr>
          <a:xfrm>
            <a:off x="4379976" y="2743200"/>
            <a:ext cx="2788920" cy="26517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4425696" y="2761488"/>
            <a:ext cx="2697479" cy="228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7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: ENFORCES_IN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4379976" y="3090672"/>
            <a:ext cx="2788920" cy="26517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4425696" y="3108960"/>
            <a:ext cx="2697479" cy="228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7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: APPLIES_IN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4379976" y="3438144"/>
            <a:ext cx="2788920" cy="26517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425696" y="3456432"/>
            <a:ext cx="2697479" cy="228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7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: CONTAINS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4379976" y="3785616"/>
            <a:ext cx="2788920" cy="265176"/>
          </a:xfrm>
          <a:prstGeom prst="roundRect">
            <a:avLst/>
          </a:prstGeom>
          <a:solidFill>
            <a:srgbClr val="DB0011"/>
          </a:solidFill>
          <a:ln w="1905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425696" y="3803904"/>
            <a:ext cx="2697479" cy="228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: GOVERNS / FULFILLED_BY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4379976" y="4133087"/>
            <a:ext cx="2788920" cy="26517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4425696" y="4151375"/>
            <a:ext cx="2697479" cy="228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7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: OWNS / OPERATES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4379976" y="4480560"/>
            <a:ext cx="2788920" cy="26517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4425696" y="4498848"/>
            <a:ext cx="2697479" cy="228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7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: MANDATES / IMPLEMENTED_BY</a:t>
            </a:r>
          </a:p>
        </p:txBody>
      </p:sp>
      <p:sp>
        <p:nvSpPr>
          <p:cNvPr id="51" name="Rounded Rectangle 50"/>
          <p:cNvSpPr/>
          <p:nvPr/>
        </p:nvSpPr>
        <p:spPr>
          <a:xfrm>
            <a:off x="4379976" y="4828032"/>
            <a:ext cx="2788920" cy="265176"/>
          </a:xfrm>
          <a:prstGeom prst="roundRect">
            <a:avLst/>
          </a:prstGeom>
          <a:solidFill>
            <a:srgbClr val="DB0011"/>
          </a:solidFill>
          <a:ln w="1905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4425696" y="4846320"/>
            <a:ext cx="2697479" cy="228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: APPLIES_TO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4379976" y="5175504"/>
            <a:ext cx="2788920" cy="265176"/>
          </a:xfrm>
          <a:prstGeom prst="roundRect">
            <a:avLst/>
          </a:prstGeom>
          <a:solidFill>
            <a:srgbClr val="DB0011"/>
          </a:solidFill>
          <a:ln w="1905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425696" y="5193792"/>
            <a:ext cx="2697479" cy="228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: MITIGATES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4379976" y="5522976"/>
            <a:ext cx="2788920" cy="265176"/>
          </a:xfrm>
          <a:prstGeom prst="roundRect">
            <a:avLst/>
          </a:prstGeom>
          <a:solidFill>
            <a:srgbClr val="DB0011"/>
          </a:solidFill>
          <a:ln w="1905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4425696" y="5541264"/>
            <a:ext cx="2697479" cy="228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7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: VALIDATES</a:t>
            </a:r>
          </a:p>
        </p:txBody>
      </p:sp>
      <p:sp>
        <p:nvSpPr>
          <p:cNvPr id="57" name="Rounded Rectangle 56"/>
          <p:cNvSpPr/>
          <p:nvPr/>
        </p:nvSpPr>
        <p:spPr>
          <a:xfrm>
            <a:off x="4379976" y="5870448"/>
            <a:ext cx="2788920" cy="26517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4425696" y="5888736"/>
            <a:ext cx="2697479" cy="228599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7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: CHILD_OF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7918704" y="2743200"/>
            <a:ext cx="2788920" cy="310896"/>
          </a:xfrm>
          <a:prstGeom prst="roundRect">
            <a:avLst/>
          </a:prstGeom>
          <a:solidFill>
            <a:srgbClr val="9FA1A4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7964424" y="2761488"/>
            <a:ext cx="26974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Ownership</a:t>
            </a:r>
          </a:p>
        </p:txBody>
      </p:sp>
      <p:sp>
        <p:nvSpPr>
          <p:cNvPr id="61" name="Rounded Rectangle 60"/>
          <p:cNvSpPr/>
          <p:nvPr/>
        </p:nvSpPr>
        <p:spPr>
          <a:xfrm>
            <a:off x="7918704" y="3145536"/>
            <a:ext cx="2788920" cy="310896"/>
          </a:xfrm>
          <a:prstGeom prst="roundRect">
            <a:avLst/>
          </a:prstGeom>
          <a:solidFill>
            <a:srgbClr val="9FA1A4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964424" y="3163824"/>
            <a:ext cx="26974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Jurisdiction / scope</a:t>
            </a:r>
          </a:p>
        </p:txBody>
      </p:sp>
      <p:sp>
        <p:nvSpPr>
          <p:cNvPr id="63" name="Rounded Rectangle 62"/>
          <p:cNvSpPr/>
          <p:nvPr/>
        </p:nvSpPr>
        <p:spPr>
          <a:xfrm>
            <a:off x="7918704" y="3547872"/>
            <a:ext cx="2788920" cy="3108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7964424" y="3566160"/>
            <a:ext cx="26974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Control state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7918704" y="3950208"/>
            <a:ext cx="2788920" cy="3108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7964424" y="3968496"/>
            <a:ext cx="26974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 level</a:t>
            </a:r>
          </a:p>
        </p:txBody>
      </p:sp>
      <p:sp>
        <p:nvSpPr>
          <p:cNvPr id="67" name="Rounded Rectangle 66"/>
          <p:cNvSpPr/>
          <p:nvPr/>
        </p:nvSpPr>
        <p:spPr>
          <a:xfrm>
            <a:off x="7918704" y="4352544"/>
            <a:ext cx="2788920" cy="3108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7964424" y="4370831"/>
            <a:ext cx="26974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Effective date</a:t>
            </a:r>
          </a:p>
        </p:txBody>
      </p:sp>
      <p:sp>
        <p:nvSpPr>
          <p:cNvPr id="69" name="Rounded Rectangle 68"/>
          <p:cNvSpPr/>
          <p:nvPr/>
        </p:nvSpPr>
        <p:spPr>
          <a:xfrm>
            <a:off x="7918704" y="4754880"/>
            <a:ext cx="2788920" cy="310896"/>
          </a:xfrm>
          <a:prstGeom prst="roundRect">
            <a:avLst/>
          </a:prstGeom>
          <a:solidFill>
            <a:srgbClr val="9FA1A4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7964424" y="4773168"/>
            <a:ext cx="26974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Evidence artifact</a:t>
            </a:r>
          </a:p>
        </p:txBody>
      </p:sp>
      <p:sp>
        <p:nvSpPr>
          <p:cNvPr id="71" name="Rounded Rectangle 70"/>
          <p:cNvSpPr/>
          <p:nvPr/>
        </p:nvSpPr>
        <p:spPr>
          <a:xfrm>
            <a:off x="7918704" y="5157216"/>
            <a:ext cx="2788920" cy="310896"/>
          </a:xfrm>
          <a:prstGeom prst="roundRect">
            <a:avLst/>
          </a:prstGeom>
          <a:solidFill>
            <a:srgbClr val="9FA1A4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TextBox 71"/>
          <p:cNvSpPr txBox="1"/>
          <p:nvPr/>
        </p:nvSpPr>
        <p:spPr>
          <a:xfrm>
            <a:off x="7964424" y="5175504"/>
            <a:ext cx="26974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Audit proof</a:t>
            </a:r>
          </a:p>
        </p:txBody>
      </p:sp>
      <p:sp>
        <p:nvSpPr>
          <p:cNvPr id="73" name="Rounded Rectangle 72"/>
          <p:cNvSpPr/>
          <p:nvPr/>
        </p:nvSpPr>
        <p:spPr>
          <a:xfrm>
            <a:off x="7918704" y="5559552"/>
            <a:ext cx="2788920" cy="310896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TextBox 73"/>
          <p:cNvSpPr txBox="1"/>
          <p:nvPr/>
        </p:nvSpPr>
        <p:spPr>
          <a:xfrm>
            <a:off x="7964424" y="5577840"/>
            <a:ext cx="2697479" cy="2743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Relationship confidence</a:t>
            </a:r>
          </a:p>
        </p:txBody>
      </p:sp>
      <p:sp>
        <p:nvSpPr>
          <p:cNvPr id="75" name="Rounded Rectangle 74"/>
          <p:cNvSpPr/>
          <p:nvPr/>
        </p:nvSpPr>
        <p:spPr>
          <a:xfrm>
            <a:off x="621792" y="6199632"/>
            <a:ext cx="10671048" cy="347472"/>
          </a:xfrm>
          <a:prstGeom prst="round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TextBox 75"/>
          <p:cNvSpPr txBox="1"/>
          <p:nvPr/>
        </p:nvSpPr>
        <p:spPr>
          <a:xfrm>
            <a:off x="822960" y="6291072"/>
            <a:ext cx="10241280" cy="15544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1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KEY RULE  |  A relationship is meaningful only when its semantics and supporting state are explicit.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68580" cy="6858000"/>
          </a:xfrm>
          <a:prstGeom prst="round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DB0011"/>
                </a:solidFill>
                <a:latin typeface="Arial"/>
              </a:defRPr>
            </a:pPr>
            <a:r>
              <a:t>03 / GRAPH TOPOLOGY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231F20"/>
                </a:solidFill>
                <a:latin typeface="Arial"/>
              </a:defRPr>
            </a:pPr>
            <a:r>
              <a:t>The compliance ontology as a connected graph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69264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6E6F6E"/>
                </a:solidFill>
                <a:latin typeface="Arial"/>
              </a:defRPr>
            </a:pPr>
            <a:r>
              <a:t>The graph encodes multiple paths — regulatory lineage, business ownership, control coverage and risk.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6748272"/>
            <a:ext cx="12191695" cy="109728"/>
          </a:xfrm>
          <a:prstGeom prst="round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6480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6E6F6E"/>
                </a:solidFill>
                <a:latin typeface="Arial"/>
              </a:defRPr>
            </a:pPr>
            <a:r>
              <a:t>DATA &amp; GOVERNANCE ENGINEERING  |  REGULATORY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37376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DB0011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30352" y="1444752"/>
            <a:ext cx="11155680" cy="4800600"/>
          </a:xfrm>
          <a:prstGeom prst="roundRect">
            <a:avLst/>
          </a:prstGeom>
          <a:solidFill>
            <a:srgbClr val="FAFAF9"/>
          </a:solidFill>
          <a:ln w="12700">
            <a:solidFill>
              <a:srgbClr val="C3C4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1664208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1">
                <a:solidFill>
                  <a:srgbClr val="DB0011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REGULATORY CONTEXT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2834640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1">
                <a:solidFill>
                  <a:srgbClr val="DB0011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GOVERNANCE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4005072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1">
                <a:solidFill>
                  <a:srgbClr val="DB0011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BUSINESS / ASSET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49808" y="5175504"/>
            <a:ext cx="219456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20" b="1">
                <a:solidFill>
                  <a:srgbClr val="DB0011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RISK / ASSURANCE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2606040" y="1920240"/>
            <a:ext cx="1234440" cy="420624"/>
          </a:xfrm>
          <a:prstGeom prst="roundRect">
            <a:avLst/>
          </a:prstGeom>
          <a:solidFill>
            <a:srgbClr val="231F20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2651760" y="1938528"/>
            <a:ext cx="114300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REGULATOR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572000" y="1920240"/>
            <a:ext cx="1325880" cy="420624"/>
          </a:xfrm>
          <a:prstGeom prst="roundRect">
            <a:avLst/>
          </a:prstGeom>
          <a:solidFill>
            <a:srgbClr val="9FA1A4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17720" y="1938528"/>
            <a:ext cx="123443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JURISDICTION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629400" y="1920240"/>
            <a:ext cx="1508760" cy="420624"/>
          </a:xfrm>
          <a:prstGeom prst="roundRect">
            <a:avLst/>
          </a:prstGeom>
          <a:solidFill>
            <a:srgbClr val="DB0011"/>
          </a:solidFill>
          <a:ln w="1905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75120" y="1938528"/>
            <a:ext cx="141731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REGULATION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23960" y="1920240"/>
            <a:ext cx="1417320" cy="4206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869680" y="1938528"/>
            <a:ext cx="13258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OBLIGATION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903720" y="3090672"/>
            <a:ext cx="1325880" cy="4206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49440" y="3108960"/>
            <a:ext cx="123443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POLICY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052560" y="3090672"/>
            <a:ext cx="1417320" cy="420624"/>
          </a:xfrm>
          <a:prstGeom prst="roundRect">
            <a:avLst/>
          </a:prstGeom>
          <a:solidFill>
            <a:srgbClr val="DB0011"/>
          </a:solidFill>
          <a:ln w="1905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098280" y="3108960"/>
            <a:ext cx="132588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CONTROL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2788920" y="4279392"/>
            <a:ext cx="1371600" cy="420624"/>
          </a:xfrm>
          <a:prstGeom prst="roundRect">
            <a:avLst/>
          </a:prstGeom>
          <a:solidFill>
            <a:srgbClr val="231F20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2834639" y="4297679"/>
            <a:ext cx="12801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LOB / ENTITY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846320" y="4279392"/>
            <a:ext cx="1508760" cy="420624"/>
          </a:xfrm>
          <a:prstGeom prst="roundRect">
            <a:avLst/>
          </a:prstGeom>
          <a:solidFill>
            <a:srgbClr val="9FA1A4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92040" y="4297679"/>
            <a:ext cx="141731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TARGET ASSET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7178040" y="5440680"/>
            <a:ext cx="1280160" cy="4206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223759" y="5458968"/>
            <a:ext cx="118871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RISK L3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887968" y="5440680"/>
            <a:ext cx="1280160" cy="420624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933688" y="5458968"/>
            <a:ext cx="1188719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RISK L2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10332720" y="4279392"/>
            <a:ext cx="914400" cy="420624"/>
          </a:xfrm>
          <a:prstGeom prst="roundRect">
            <a:avLst/>
          </a:prstGeom>
          <a:solidFill>
            <a:srgbClr val="9FA1A4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10378440" y="4297679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73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EVIDENCE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3840480" y="2130552"/>
            <a:ext cx="731520" cy="0"/>
          </a:xfrm>
          <a:prstGeom prst="line">
            <a:avLst/>
          </a:prstGeom>
          <a:ln w="1778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3840480" y="1883664"/>
            <a:ext cx="11430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10" b="1">
                <a:solidFill>
                  <a:srgbClr val="DB0011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ENFORCES_IN</a:t>
            </a:r>
          </a:p>
        </p:txBody>
      </p:sp>
      <p:cxnSp>
        <p:nvCxnSpPr>
          <p:cNvPr id="38" name="Connector 37"/>
          <p:cNvCxnSpPr/>
          <p:nvPr/>
        </p:nvCxnSpPr>
        <p:spPr>
          <a:xfrm>
            <a:off x="5897880" y="2130552"/>
            <a:ext cx="731520" cy="0"/>
          </a:xfrm>
          <a:prstGeom prst="line">
            <a:avLst/>
          </a:prstGeom>
          <a:ln w="15240">
            <a:solidFill>
              <a:srgbClr val="6E6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/>
          <p:cNvSpPr txBox="1"/>
          <p:nvPr/>
        </p:nvSpPr>
        <p:spPr>
          <a:xfrm>
            <a:off x="5760720" y="1883664"/>
            <a:ext cx="9601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10" b="1">
                <a:solidFill>
                  <a:srgbClr val="6E6F6E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APPLIES_IN</a:t>
            </a:r>
          </a:p>
        </p:txBody>
      </p:sp>
      <p:cxnSp>
        <p:nvCxnSpPr>
          <p:cNvPr id="40" name="Connector 39"/>
          <p:cNvCxnSpPr/>
          <p:nvPr/>
        </p:nvCxnSpPr>
        <p:spPr>
          <a:xfrm>
            <a:off x="8138160" y="2130552"/>
            <a:ext cx="685800" cy="0"/>
          </a:xfrm>
          <a:prstGeom prst="line">
            <a:avLst/>
          </a:prstGeom>
          <a:ln w="15240">
            <a:solidFill>
              <a:srgbClr val="6E6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TextBox 40"/>
          <p:cNvSpPr txBox="1"/>
          <p:nvPr/>
        </p:nvSpPr>
        <p:spPr>
          <a:xfrm>
            <a:off x="8229600" y="1883664"/>
            <a:ext cx="8229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10" b="1">
                <a:solidFill>
                  <a:srgbClr val="6E6F6E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CONTAINS</a:t>
            </a:r>
          </a:p>
        </p:txBody>
      </p:sp>
      <p:cxnSp>
        <p:nvCxnSpPr>
          <p:cNvPr id="42" name="Connector 41"/>
          <p:cNvCxnSpPr/>
          <p:nvPr/>
        </p:nvCxnSpPr>
        <p:spPr>
          <a:xfrm flipH="1">
            <a:off x="7955279" y="2340864"/>
            <a:ext cx="1572769" cy="749808"/>
          </a:xfrm>
          <a:prstGeom prst="line">
            <a:avLst/>
          </a:prstGeom>
          <a:ln w="15240">
            <a:solidFill>
              <a:srgbClr val="6E6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3" name="TextBox 42"/>
          <p:cNvSpPr txBox="1"/>
          <p:nvPr/>
        </p:nvSpPr>
        <p:spPr>
          <a:xfrm>
            <a:off x="8458200" y="2578608"/>
            <a:ext cx="868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10" b="1">
                <a:solidFill>
                  <a:srgbClr val="6E6F6E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GOVERNS</a:t>
            </a:r>
          </a:p>
        </p:txBody>
      </p:sp>
      <p:cxnSp>
        <p:nvCxnSpPr>
          <p:cNvPr id="44" name="Connector 43"/>
          <p:cNvCxnSpPr/>
          <p:nvPr/>
        </p:nvCxnSpPr>
        <p:spPr>
          <a:xfrm>
            <a:off x="8229600" y="3300984"/>
            <a:ext cx="822960" cy="0"/>
          </a:xfrm>
          <a:prstGeom prst="line">
            <a:avLst/>
          </a:prstGeom>
          <a:ln w="1905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5" name="TextBox 44"/>
          <p:cNvSpPr txBox="1"/>
          <p:nvPr/>
        </p:nvSpPr>
        <p:spPr>
          <a:xfrm>
            <a:off x="8247888" y="309067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10" b="1">
                <a:solidFill>
                  <a:srgbClr val="DB0011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MANDATES</a:t>
            </a:r>
          </a:p>
        </p:txBody>
      </p:sp>
      <p:cxnSp>
        <p:nvCxnSpPr>
          <p:cNvPr id="46" name="Connector 45"/>
          <p:cNvCxnSpPr/>
          <p:nvPr/>
        </p:nvCxnSpPr>
        <p:spPr>
          <a:xfrm>
            <a:off x="4160520" y="4489704"/>
            <a:ext cx="685800" cy="0"/>
          </a:xfrm>
          <a:prstGeom prst="line">
            <a:avLst/>
          </a:prstGeom>
          <a:ln w="15240">
            <a:solidFill>
              <a:srgbClr val="231F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>
            <a:off x="3886200" y="4261104"/>
            <a:ext cx="13258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1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OWNS / OPERATES</a:t>
            </a:r>
          </a:p>
        </p:txBody>
      </p:sp>
      <p:cxnSp>
        <p:nvCxnSpPr>
          <p:cNvPr id="48" name="Connector 47"/>
          <p:cNvCxnSpPr/>
          <p:nvPr/>
        </p:nvCxnSpPr>
        <p:spPr>
          <a:xfrm flipV="1">
            <a:off x="6355080" y="3511296"/>
            <a:ext cx="2697480" cy="978408"/>
          </a:xfrm>
          <a:prstGeom prst="line">
            <a:avLst/>
          </a:prstGeom>
          <a:ln w="1905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6903720" y="3931920"/>
            <a:ext cx="10515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10" b="1">
                <a:solidFill>
                  <a:srgbClr val="DB0011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APPLIES_TO</a:t>
            </a:r>
          </a:p>
        </p:txBody>
      </p:sp>
      <p:cxnSp>
        <p:nvCxnSpPr>
          <p:cNvPr id="50" name="Connector 49"/>
          <p:cNvCxnSpPr/>
          <p:nvPr/>
        </p:nvCxnSpPr>
        <p:spPr>
          <a:xfrm>
            <a:off x="10469880" y="3511296"/>
            <a:ext cx="301752" cy="768096"/>
          </a:xfrm>
          <a:prstGeom prst="line">
            <a:avLst/>
          </a:prstGeom>
          <a:ln w="15240">
            <a:solidFill>
              <a:srgbClr val="6E6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1" name="TextBox 50"/>
          <p:cNvSpPr txBox="1"/>
          <p:nvPr/>
        </p:nvSpPr>
        <p:spPr>
          <a:xfrm>
            <a:off x="10058400" y="373075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10" b="1">
                <a:solidFill>
                  <a:srgbClr val="6E6F6E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VALIDATES</a:t>
            </a:r>
          </a:p>
        </p:txBody>
      </p:sp>
      <p:cxnSp>
        <p:nvCxnSpPr>
          <p:cNvPr id="52" name="Connector 51"/>
          <p:cNvCxnSpPr/>
          <p:nvPr/>
        </p:nvCxnSpPr>
        <p:spPr>
          <a:xfrm flipH="1">
            <a:off x="8458200" y="4700016"/>
            <a:ext cx="1874520" cy="740664"/>
          </a:xfrm>
          <a:prstGeom prst="line">
            <a:avLst/>
          </a:prstGeom>
          <a:ln w="15240">
            <a:solidFill>
              <a:srgbClr val="6E6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3" name="TextBox 52"/>
          <p:cNvSpPr txBox="1"/>
          <p:nvPr/>
        </p:nvSpPr>
        <p:spPr>
          <a:xfrm>
            <a:off x="8823960" y="501091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10" b="1">
                <a:solidFill>
                  <a:srgbClr val="6E6F6E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CHILD_OF</a:t>
            </a:r>
          </a:p>
        </p:txBody>
      </p:sp>
      <p:cxnSp>
        <p:nvCxnSpPr>
          <p:cNvPr id="54" name="Connector 53"/>
          <p:cNvCxnSpPr/>
          <p:nvPr/>
        </p:nvCxnSpPr>
        <p:spPr>
          <a:xfrm flipH="1">
            <a:off x="8275320" y="5650992"/>
            <a:ext cx="182880" cy="0"/>
          </a:xfrm>
          <a:prstGeom prst="line">
            <a:avLst/>
          </a:prstGeom>
          <a:ln w="15240">
            <a:solidFill>
              <a:srgbClr val="6E6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7818120" y="5175504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10" b="1">
                <a:solidFill>
                  <a:srgbClr val="6E6F6E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CHILD_OF</a:t>
            </a:r>
          </a:p>
        </p:txBody>
      </p:sp>
      <p:cxnSp>
        <p:nvCxnSpPr>
          <p:cNvPr id="56" name="Connector 55"/>
          <p:cNvCxnSpPr/>
          <p:nvPr/>
        </p:nvCxnSpPr>
        <p:spPr>
          <a:xfrm flipH="1" flipV="1">
            <a:off x="6355080" y="4700016"/>
            <a:ext cx="1600199" cy="740664"/>
          </a:xfrm>
          <a:prstGeom prst="line">
            <a:avLst/>
          </a:prstGeom>
          <a:ln w="1905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>
            <a:off x="6720840" y="4956048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10" b="1">
                <a:solidFill>
                  <a:srgbClr val="DB0011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MITIGATES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68580" cy="6858000"/>
          </a:xfrm>
          <a:prstGeom prst="round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DB0011"/>
                </a:solidFill>
                <a:latin typeface="Arial"/>
              </a:defRPr>
            </a:pPr>
            <a:r>
              <a:t>04 / IMPACT ASSESSMENT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231F20"/>
                </a:solidFill>
                <a:latin typeface="Arial"/>
              </a:defRPr>
            </a:pPr>
            <a:r>
              <a:t>Graph traversal is not the same as impact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69264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6E6F6E"/>
                </a:solidFill>
                <a:latin typeface="Arial"/>
              </a:defRPr>
            </a:pPr>
            <a:r>
              <a:t>Traverse candidate relationships; evidence determines whether the relationship is actually applicable.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6748272"/>
            <a:ext cx="12191695" cy="109728"/>
          </a:xfrm>
          <a:prstGeom prst="round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6480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6E6F6E"/>
                </a:solidFill>
                <a:latin typeface="Arial"/>
              </a:defRPr>
            </a:pPr>
            <a:r>
              <a:t>DATA &amp; GOVERNANCE ENGINEERING  |  REGULATORY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37376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DB0011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481328"/>
            <a:ext cx="27432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DB0011"/>
                </a:solidFill>
                <a:latin typeface="Arial"/>
              </a:defRPr>
            </a:pPr>
            <a:r>
              <a:t>ALERT ENTRY POINT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" y="1828800"/>
            <a:ext cx="1600200" cy="502920"/>
          </a:xfrm>
          <a:prstGeom prst="roundRect">
            <a:avLst/>
          </a:prstGeom>
          <a:solidFill>
            <a:srgbClr val="DB0011"/>
          </a:solidFill>
          <a:ln w="1905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1847088"/>
            <a:ext cx="1508760" cy="4663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REGULATORY ALERT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63240" y="1719072"/>
            <a:ext cx="1554480" cy="475488"/>
          </a:xfrm>
          <a:prstGeom prst="roundRect">
            <a:avLst/>
          </a:prstGeom>
          <a:solidFill>
            <a:srgbClr val="DB0011"/>
          </a:solidFill>
          <a:ln w="1905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108960" y="1737360"/>
            <a:ext cx="1463039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RGL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840480" y="2194560"/>
            <a:ext cx="0" cy="310896"/>
          </a:xfrm>
          <a:prstGeom prst="line">
            <a:avLst/>
          </a:prstGeom>
          <a:ln w="15240">
            <a:solidFill>
              <a:srgbClr val="6E6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3063240" y="2505456"/>
            <a:ext cx="1554480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108960" y="2523744"/>
            <a:ext cx="1463039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RSM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840480" y="2980944"/>
            <a:ext cx="0" cy="310895"/>
          </a:xfrm>
          <a:prstGeom prst="line">
            <a:avLst/>
          </a:prstGeom>
          <a:ln w="15240">
            <a:solidFill>
              <a:srgbClr val="6E6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3063240" y="3291839"/>
            <a:ext cx="1554480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108960" y="3310127"/>
            <a:ext cx="1463039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ROB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3840480" y="3767327"/>
            <a:ext cx="0" cy="310897"/>
          </a:xfrm>
          <a:prstGeom prst="line">
            <a:avLst/>
          </a:prstGeom>
          <a:ln w="15240">
            <a:solidFill>
              <a:srgbClr val="6E6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3063240" y="4078224"/>
            <a:ext cx="1554480" cy="47548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3108960" y="4096511"/>
            <a:ext cx="1463039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RISK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3840480" y="4553712"/>
            <a:ext cx="0" cy="310896"/>
          </a:xfrm>
          <a:prstGeom prst="line">
            <a:avLst/>
          </a:prstGeom>
          <a:ln w="15240">
            <a:solidFill>
              <a:srgbClr val="6E6F6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ounded Rectangle 23"/>
          <p:cNvSpPr/>
          <p:nvPr/>
        </p:nvSpPr>
        <p:spPr>
          <a:xfrm>
            <a:off x="3063240" y="4864608"/>
            <a:ext cx="1554480" cy="475488"/>
          </a:xfrm>
          <a:prstGeom prst="roundRect">
            <a:avLst/>
          </a:prstGeom>
          <a:solidFill>
            <a:srgbClr val="DB0011"/>
          </a:solidFill>
          <a:ln w="1905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3108960" y="4882896"/>
            <a:ext cx="1463039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L1C / CONTROL</a:t>
            </a:r>
          </a:p>
        </p:txBody>
      </p:sp>
      <p:cxnSp>
        <p:nvCxnSpPr>
          <p:cNvPr id="26" name="Connector 25"/>
          <p:cNvCxnSpPr/>
          <p:nvPr/>
        </p:nvCxnSpPr>
        <p:spPr>
          <a:xfrm flipV="1">
            <a:off x="2240280" y="1956816"/>
            <a:ext cx="822960" cy="118872"/>
          </a:xfrm>
          <a:prstGeom prst="line">
            <a:avLst/>
          </a:prstGeom>
          <a:ln w="2159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>
            <a:off x="2331720" y="1810512"/>
            <a:ext cx="91440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10" b="1">
                <a:solidFill>
                  <a:srgbClr val="DB0011"/>
                </a:solidFill>
                <a:latin typeface="Arial"/>
              </a:defRPr>
            </a:pPr>
            <a:r>
              <a:t>TRAVERSE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80360" y="5102352"/>
            <a:ext cx="19659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30" b="1">
                <a:solidFill>
                  <a:srgbClr val="DB0011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Candidate lineage</a:t>
            </a:r>
            <a:br/>
            <a:r>
              <a:rPr>
                <a:solidFill>
                  <a:srgbClr val="FFFFFF"/>
                </a:solidFill>
              </a:rPr>
              <a:t>≠ confirmed impact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5486400" y="1572768"/>
            <a:ext cx="2240280" cy="4343400"/>
          </a:xfrm>
          <a:prstGeom prst="roundRect">
            <a:avLst/>
          </a:prstGeom>
          <a:solidFill>
            <a:srgbClr val="231F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742432" y="1874519"/>
            <a:ext cx="1737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DB0011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IMPACT GATE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742432" y="2267712"/>
            <a:ext cx="1737360" cy="6583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Does this</a:t>
            </a:r>
            <a:br/>
            <a:r>
              <a:rPr>
                <a:solidFill>
                  <a:srgbClr val="FFFFFF"/>
                </a:solidFill>
              </a:rPr>
              <a:t>relationship</a:t>
            </a:r>
            <a:br/>
            <a:r>
              <a:rPr>
                <a:solidFill>
                  <a:srgbClr val="FFFFFF"/>
                </a:solidFill>
              </a:rPr>
              <a:t>actually hold?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5742432" y="3246120"/>
            <a:ext cx="1737360" cy="3474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788152" y="3264408"/>
            <a:ext cx="164591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Scope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742432" y="3749039"/>
            <a:ext cx="1737360" cy="3474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5788152" y="3767327"/>
            <a:ext cx="164591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Semantic fit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5742432" y="4251960"/>
            <a:ext cx="1737360" cy="3474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788152" y="4270248"/>
            <a:ext cx="164591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Ownership</a:t>
            </a:r>
          </a:p>
        </p:txBody>
      </p:sp>
      <p:sp>
        <p:nvSpPr>
          <p:cNvPr id="38" name="Rounded Rectangle 37"/>
          <p:cNvSpPr/>
          <p:nvPr/>
        </p:nvSpPr>
        <p:spPr>
          <a:xfrm>
            <a:off x="5742432" y="4754880"/>
            <a:ext cx="1737360" cy="347472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5788152" y="4773168"/>
            <a:ext cx="1645919" cy="310896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80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Evidence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229600" y="1572768"/>
            <a:ext cx="274320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00" b="1">
                <a:solidFill>
                  <a:srgbClr val="DB0011"/>
                </a:solidFill>
                <a:latin typeface="Arial"/>
              </a:defRPr>
            </a:pPr>
            <a:r>
              <a:t>CONFIRMED IMPACT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8229600" y="1993392"/>
            <a:ext cx="2743200" cy="566928"/>
          </a:xfrm>
          <a:prstGeom prst="roundRect">
            <a:avLst/>
          </a:prstGeom>
          <a:solidFill>
            <a:srgbClr val="DB0011"/>
          </a:solidFill>
          <a:ln w="19050">
            <a:solidFill>
              <a:srgbClr val="DB001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8275320" y="2011680"/>
            <a:ext cx="2651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ALERT → CONTROL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229600" y="2926080"/>
            <a:ext cx="2743200" cy="566928"/>
          </a:xfrm>
          <a:prstGeom prst="roundRect">
            <a:avLst/>
          </a:prstGeom>
          <a:solidFill>
            <a:srgbClr val="9FA1A4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275320" y="2944368"/>
            <a:ext cx="2651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ALERT → ASSET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8229600" y="3858768"/>
            <a:ext cx="2743200" cy="56692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231F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275320" y="3877055"/>
            <a:ext cx="2651760" cy="53035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231F20"/>
                </a:solidFill>
                <a:latin typeface="Arial"/>
              </a:defRPr>
            </a:pPr>
            <a:r>
              <a:rPr>
                <a:solidFill>
                  <a:srgbClr val="231F20"/>
                </a:solidFill>
              </a:rPr>
              <a:t>ALERT → RISK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29600" y="4736592"/>
            <a:ext cx="27432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50" b="1">
                <a:solidFill>
                  <a:srgbClr val="6E6F6E"/>
                </a:solidFill>
                <a:latin typeface="Arial"/>
              </a:defRPr>
            </a:pPr>
            <a:r>
              <a:t>Only the supported path is retained as an impact relationship.</a:t>
            </a:r>
          </a:p>
        </p:txBody>
      </p:sp>
      <p:cxnSp>
        <p:nvCxnSpPr>
          <p:cNvPr id="48" name="Connector 47"/>
          <p:cNvCxnSpPr/>
          <p:nvPr/>
        </p:nvCxnSpPr>
        <p:spPr>
          <a:xfrm flipV="1">
            <a:off x="7726679" y="2286000"/>
            <a:ext cx="502921" cy="1234440"/>
          </a:xfrm>
          <a:prstGeom prst="line">
            <a:avLst/>
          </a:prstGeom>
          <a:ln w="21590">
            <a:solidFill>
              <a:srgbClr val="DB001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9" name="TextBox 48"/>
          <p:cNvSpPr txBox="1"/>
          <p:nvPr/>
        </p:nvSpPr>
        <p:spPr>
          <a:xfrm>
            <a:off x="7699248" y="2816352"/>
            <a:ext cx="86868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710" b="1">
                <a:solidFill>
                  <a:srgbClr val="DB0011"/>
                </a:solidFill>
                <a:latin typeface="Arial"/>
              </a:defRPr>
            </a:pPr>
            <a:r>
              <a:t>VALIDATE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31F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0" y="0"/>
            <a:ext cx="68580" cy="6858000"/>
          </a:xfrm>
          <a:prstGeom prst="round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30352" y="246888"/>
            <a:ext cx="25603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DB0011"/>
                </a:solidFill>
                <a:latin typeface="Arial"/>
              </a:defRPr>
            </a:pPr>
            <a:r>
              <a:t>05 / QUERY LAYER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30352" y="512064"/>
            <a:ext cx="10972800" cy="43891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rial"/>
              </a:defRPr>
            </a:pPr>
            <a:r>
              <a:t>Real-time traceability through graph queries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30352" y="969264"/>
            <a:ext cx="106984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19" b="0">
                <a:solidFill>
                  <a:srgbClr val="BEBEBC"/>
                </a:solidFill>
                <a:latin typeface="Arial"/>
              </a:defRPr>
            </a:pPr>
            <a:r>
              <a:t>Multi-hop questions become executable against the same ontology.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0" y="6748272"/>
            <a:ext cx="12191695" cy="109728"/>
          </a:xfrm>
          <a:prstGeom prst="roundRect">
            <a:avLst/>
          </a:prstGeom>
          <a:solidFill>
            <a:srgbClr val="DB001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30352" y="6464808"/>
            <a:ext cx="731520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00" b="1">
                <a:solidFill>
                  <a:srgbClr val="A5A5A3"/>
                </a:solidFill>
                <a:latin typeface="Arial"/>
              </a:defRPr>
            </a:pPr>
            <a:r>
              <a:t>DATA &amp; GOVERNANCE ENGINEERING  |  REGULATORY COMPLIANCE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64240" y="6437376"/>
            <a:ext cx="59436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800" b="1">
                <a:solidFill>
                  <a:srgbClr val="DB0011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1481328"/>
            <a:ext cx="7059168" cy="4754880"/>
          </a:xfrm>
          <a:prstGeom prst="roundRect">
            <a:avLst/>
          </a:prstGeom>
          <a:solidFill>
            <a:srgbClr val="3737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41248" y="1755648"/>
            <a:ext cx="63093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DB0011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QUERY 01  /  BLAST-RADIUS GAP ANALYSIS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41248" y="2148840"/>
            <a:ext cx="6355080" cy="2148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MATCH (lob:LOB)-[:OPERATES_IN]-&gt;(j:Jurisdiction {name: "UK"}),</a:t>
            </a:r>
            <a:br/>
            <a:r>
              <a:rPr>
                <a:solidFill>
                  <a:srgbClr val="FFFFFF"/>
                </a:solidFill>
              </a:rPr>
              <a:t>      (lob)-[:OWNS]-&gt;(asset:Asset)</a:t>
            </a:r>
            <a:br/>
            <a:r>
              <a:rPr>
                <a:solidFill>
                  <a:srgbClr val="FFFFFF"/>
                </a:solidFill>
              </a:rPr>
              <a:t>WHERE NOT (asset)&lt;-[:APPLIES_TO]-(:Control)</a:t>
            </a:r>
            <a:br/>
            <a:r>
              <a:rPr>
                <a:solidFill>
                  <a:srgbClr val="FFFFFF"/>
                </a:solidFill>
              </a:rPr>
              <a:t>  -[:MITIGATES]-&gt;(:Risk_L3)</a:t>
            </a:r>
            <a:br/>
            <a:r>
              <a:rPr>
                <a:solidFill>
                  <a:srgbClr val="FFFFFF"/>
                </a:solidFill>
              </a:rPr>
              <a:t>  -[:CHILD_OF*1..2]-&gt;(:Risk_L1 {name: "Cyber Risk"})</a:t>
            </a:r>
            <a:br/>
            <a:r>
              <a:rPr>
                <a:solidFill>
                  <a:srgbClr val="FFFFFF"/>
                </a:solidFill>
              </a:rPr>
              <a:t>RETURN asset.name AS Exposed_Assets,</a:t>
            </a:r>
            <a:br/>
            <a:r>
              <a:rPr>
                <a:solidFill>
                  <a:srgbClr val="FFFFFF"/>
                </a:solidFill>
              </a:rPr>
              <a:t>       lob.name AS Accountable_Business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4572000"/>
            <a:ext cx="62179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DB0011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QUESTION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41248" y="4846320"/>
            <a:ext cx="6309360" cy="56692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Which assets lack controls mitigating L3 cyber risks in the UK?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882127" y="1481328"/>
            <a:ext cx="3730752" cy="4754880"/>
          </a:xfrm>
          <a:prstGeom prst="roundRect">
            <a:avLst/>
          </a:prstGeom>
          <a:solidFill>
            <a:srgbClr val="313130"/>
          </a:solidFill>
          <a:ln w="12700">
            <a:solidFill>
              <a:srgbClr val="5050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156448" y="1755648"/>
            <a:ext cx="3108960" cy="20116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819" b="1">
                <a:solidFill>
                  <a:srgbClr val="DB0011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GRAPH RESULT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6448" y="2194560"/>
            <a:ext cx="2926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1">
                <a:solidFill>
                  <a:srgbClr val="A5A5A3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EXPOSED ASSET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156448" y="240487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Core Customer DB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56448" y="2880360"/>
            <a:ext cx="2926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1">
                <a:solidFill>
                  <a:srgbClr val="A5A5A3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ACCOUNTABLE LOB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56448" y="309067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Retail Banking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56448" y="3566160"/>
            <a:ext cx="2926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1">
                <a:solidFill>
                  <a:srgbClr val="A5A5A3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MISSING EDGE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156448" y="377647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Control → APPLIES_TO → Asset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56448" y="4251960"/>
            <a:ext cx="2926080" cy="16459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690" b="1">
                <a:solidFill>
                  <a:srgbClr val="A5A5A3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RISK PATH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56448" y="4462272"/>
            <a:ext cx="301752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9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L3 → L2 → L1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56448" y="5074920"/>
            <a:ext cx="3017520" cy="182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750" b="1">
                <a:solidFill>
                  <a:srgbClr val="DB0011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WHY THIS MATTERS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156448" y="5349240"/>
            <a:ext cx="29718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10" b="1">
                <a:solidFill>
                  <a:srgbClr val="FFFFFF"/>
                </a:solidFill>
                <a:latin typeface="Arial"/>
              </a:defRPr>
            </a:pPr>
            <a:r>
              <a:rPr>
                <a:solidFill>
                  <a:srgbClr val="FFFFFF"/>
                </a:solidFill>
              </a:rPr>
              <a:t>The graph exposes the missing relationship — not merely a missing spreadsheet row.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