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5" r:id="rId1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36576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B0011"/>
                </a:solidFill>
                <a:latin typeface="Aptos"/>
              </a:rPr>
              <a:t>ROB LINKAGE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6400800" cy="9601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100" b="1">
                <a:solidFill>
                  <a:srgbClr val="191919"/>
                </a:solidFill>
                <a:latin typeface="Aptos"/>
              </a:rPr>
              <a:t>Policy + Procedure
Management Readout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667512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14141"/>
                </a:solidFill>
                <a:latin typeface="Aptos"/>
              </a:rPr>
              <a:t>3,180 US obligations assessed against the available policy and procedure landscape.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46120"/>
            <a:ext cx="33375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246120"/>
            <a:ext cx="54864" cy="141732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10712"/>
            <a:ext cx="30175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3,710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13631"/>
            <a:ext cx="30175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ROB → Policy linked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97096"/>
            <a:ext cx="3017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1,402 obligations | 64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87952" y="3246120"/>
            <a:ext cx="333756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87952" y="3246120"/>
            <a:ext cx="54864" cy="1417320"/>
          </a:xfrm>
          <a:prstGeom prst="rect">
            <a:avLst/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3410712"/>
            <a:ext cx="30175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4,447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3913631"/>
            <a:ext cx="30175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ROB → Procedure linked pairs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4197096"/>
            <a:ext cx="30175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1,042 obligations | 186 procedures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0104" y="3246120"/>
            <a:ext cx="3611880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0104" y="3246120"/>
            <a:ext cx="54864" cy="141732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2983" y="3410712"/>
            <a:ext cx="32918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≈90%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2983" y="3913631"/>
            <a:ext cx="32918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Partial governance in both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2983" y="4197096"/>
            <a:ext cx="32918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The dominant relationship type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74920"/>
            <a:ext cx="10607040" cy="713232"/>
          </a:xfrm>
          <a:prstGeom prst="roundRect">
            <a:avLst>
              <a:gd name="adj" fmla="val 7000"/>
            </a:avLst>
          </a:prstGeom>
          <a:solidFill>
            <a:srgbClr val="FCEFF0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66944"/>
            <a:ext cx="10515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Core finding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212080"/>
            <a:ext cx="896112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The useful output is not a binary match — it is a typed governance relationship with an associated confidence / coverage signal.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17920"/>
            <a:ext cx="18288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96969"/>
                </a:solidFill>
                <a:latin typeface="Aptos"/>
              </a:rPr>
              <a:t>Management discussion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ROB linkage assessment | Management readout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96969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01 | ROB →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Policy linkage: the graph is overwhelmingly partial governance.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607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The linkage run produced 3,710 LINKED pairs from 61,962 candidate pairs.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548640" cy="4114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242316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54864" cy="1234440"/>
          </a:xfrm>
          <a:prstGeom prst="rect">
            <a:avLst/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21031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61,962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23160"/>
            <a:ext cx="21031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candidate pairs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706624"/>
            <a:ext cx="21031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post-taxonomy filter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1755648"/>
            <a:ext cx="242316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1755648"/>
            <a:ext cx="54864" cy="123444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920240"/>
            <a:ext cx="21031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3,710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423160"/>
            <a:ext cx="21031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linked pairs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706624"/>
            <a:ext cx="21031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6% of candidates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79008" y="1755648"/>
            <a:ext cx="242316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79008" y="1755648"/>
            <a:ext cx="54864" cy="1234440"/>
          </a:xfrm>
          <a:prstGeom prst="rect">
            <a:avLst/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1920240"/>
            <a:ext cx="21031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1,402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2423160"/>
            <a:ext cx="21031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obligations linked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2706624"/>
            <a:ext cx="21031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across 64 policies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39327" y="1755648"/>
            <a:ext cx="288036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39327" y="1755648"/>
            <a:ext cx="54864" cy="1234440"/>
          </a:xfrm>
          <a:prstGeom prst="rect">
            <a:avLst/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7" y="1920240"/>
            <a:ext cx="25603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282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2423160"/>
            <a:ext cx="25603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policies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7" y="2706624"/>
            <a:ext cx="25603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26 local + 256 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83280"/>
            <a:ext cx="2468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LINKED-EDGE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67328"/>
            <a:ext cx="2011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GOVERNS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3794760"/>
            <a:ext cx="4800600" cy="256032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0" y="3794760"/>
            <a:ext cx="86410" cy="256032"/>
          </a:xfrm>
          <a:prstGeom prst="roundRect">
            <a:avLst>
              <a:gd name="adj" fmla="val 7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79" y="3767328"/>
            <a:ext cx="685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191919"/>
                </a:solidFill>
                <a:latin typeface="Aptos"/>
              </a:rPr>
              <a:t>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767328"/>
            <a:ext cx="5943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6969"/>
                </a:solidFill>
                <a:latin typeface="Aptos"/>
              </a:rPr>
              <a:t>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88536"/>
            <a:ext cx="2011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PARTIALLY_GOVERNS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4315968"/>
            <a:ext cx="4800600" cy="256032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43200" y="4315968"/>
            <a:ext cx="4387748" cy="256032"/>
          </a:xfrm>
          <a:prstGeom prst="roundRect">
            <a:avLst>
              <a:gd name="adj" fmla="val 7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4288536"/>
            <a:ext cx="685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191919"/>
                </a:solidFill>
                <a:latin typeface="Aptos"/>
              </a:rPr>
              <a:t>3,390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288536"/>
            <a:ext cx="5943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6969"/>
                </a:solidFill>
                <a:latin typeface="Aptos"/>
              </a:rPr>
              <a:t>91.4%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809744"/>
            <a:ext cx="2011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RELATED_TO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4837176"/>
            <a:ext cx="4800600" cy="256032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743200" y="4837176"/>
            <a:ext cx="326440" cy="256032"/>
          </a:xfrm>
          <a:prstGeom prst="roundRect">
            <a:avLst>
              <a:gd name="adj" fmla="val 7000"/>
            </a:avLst>
          </a:prstGeom>
          <a:solidFill>
            <a:srgbClr val="526570"/>
          </a:solidFill>
          <a:ln>
            <a:solidFill>
              <a:srgbClr val="52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26679" y="4809744"/>
            <a:ext cx="685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191919"/>
                </a:solidFill>
                <a:latin typeface="Aptos"/>
              </a:rPr>
              <a:t>252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4809744"/>
            <a:ext cx="5943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6969"/>
                </a:solidFill>
                <a:latin typeface="Aptos"/>
              </a:rPr>
              <a:t>6.8%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330952"/>
            <a:ext cx="2011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TANGENTIAL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0" y="5358384"/>
            <a:ext cx="4800600" cy="256032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43200" y="5358384"/>
            <a:ext cx="36576" cy="256032"/>
          </a:xfrm>
          <a:prstGeom prst="roundRect">
            <a:avLst>
              <a:gd name="adj" fmla="val 7000"/>
            </a:avLst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79" y="5330952"/>
            <a:ext cx="685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191919"/>
                </a:solidFill>
                <a:latin typeface="Aptos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5330952"/>
            <a:ext cx="5943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6969"/>
                </a:solidFill>
                <a:latin typeface="Aptos"/>
              </a:rPr>
              <a:t>0.0%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18320" y="3401568"/>
            <a:ext cx="2103120" cy="2212848"/>
          </a:xfrm>
          <a:prstGeom prst="roundRect">
            <a:avLst>
              <a:gd name="adj" fmla="val 7000"/>
            </a:avLst>
          </a:prstGeom>
          <a:solidFill>
            <a:srgbClr val="FCEFF0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46920" y="3675887"/>
            <a:ext cx="16459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B0011"/>
                </a:solidFill>
                <a:latin typeface="Aptos"/>
              </a:rPr>
              <a:t>Management read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4160520"/>
            <a:ext cx="1600200" cy="7498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91.4% of linked policy relationships are PARTIALLY_GOVERNS.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6920" y="5029200"/>
            <a:ext cx="16002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4141"/>
                </a:solidFill>
                <a:latin typeface="Aptos"/>
              </a:rPr>
              <a:t>The partial relationship is therefore the main analytical object.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ROB linkage assessment | Management readout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96969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02 | ROB →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Score investigation: the evidence supports grading, not cutting.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607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Three candidate quality signals were tested; link_score is the only one with useful discrimination.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548640" cy="4114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6459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6969"/>
                </a:solidFill>
                <a:latin typeface="Aptos"/>
              </a:rPr>
              <a:t>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783080"/>
            <a:ext cx="3108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6969"/>
                </a:solidFill>
                <a:latin typeface="Aptos"/>
              </a:rP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783080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6969"/>
                </a:solidFill>
                <a:latin typeface="Aptos"/>
              </a:rPr>
              <a:t>READING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48840"/>
            <a:ext cx="7315200" cy="594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313432"/>
            <a:ext cx="15087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ptos"/>
              </a:rPr>
              <a:t>link_score (0–10)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258568"/>
            <a:ext cx="306324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4141"/>
                </a:solidFill>
                <a:latin typeface="Aptos"/>
              </a:rPr>
              <a:t>Mean 7.1; spread 0–10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2295144"/>
            <a:ext cx="1600200" cy="292608"/>
          </a:xfrm>
          <a:prstGeom prst="roundRect">
            <a:avLst>
              <a:gd name="adj" fmla="val 7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304288"/>
            <a:ext cx="160020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USABLE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52928"/>
            <a:ext cx="7315200" cy="594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017520"/>
            <a:ext cx="15087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ptos"/>
              </a:rPr>
              <a:t>confidence_score (1–5)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962656"/>
            <a:ext cx="306324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4141"/>
                </a:solidFill>
                <a:latin typeface="Aptos"/>
              </a:rPr>
              <a:t>93% are 4 or 5; none below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999232"/>
            <a:ext cx="1600200" cy="292608"/>
          </a:xfrm>
          <a:prstGeom prst="roundRect">
            <a:avLst>
              <a:gd name="adj" fmla="val 7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008376"/>
            <a:ext cx="160020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NOT USABLE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6"/>
            <a:ext cx="7315200" cy="594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721608"/>
            <a:ext cx="15087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ptos"/>
              </a:rPr>
              <a:t>weight (0–1)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666744"/>
            <a:ext cx="3063240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4141"/>
                </a:solidFill>
                <a:latin typeface="Aptos"/>
              </a:rPr>
              <a:t>Mean 0.64; std 0.08; 81% clustered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3703320"/>
            <a:ext cx="1600200" cy="292608"/>
          </a:xfrm>
          <a:prstGeom prst="roundRect">
            <a:avLst>
              <a:gd name="adj" fmla="val 7000"/>
            </a:avLst>
          </a:prstGeom>
          <a:solidFill>
            <a:srgbClr val="526570"/>
          </a:solidFill>
          <a:ln>
            <a:solidFill>
              <a:srgbClr val="52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3712463"/>
            <a:ext cx="160020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NOT USABLE ALONE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34840"/>
            <a:ext cx="10789920" cy="1325880"/>
          </a:xfrm>
          <a:prstGeom prst="roundRect">
            <a:avLst>
              <a:gd name="adj" fmla="val 7000"/>
            </a:avLst>
          </a:prstGeom>
          <a:solidFill>
            <a:srgbClr val="F8F8F8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81728"/>
            <a:ext cx="2468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LINK SCORE TRACKS EDGE 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4599432"/>
            <a:ext cx="1600200" cy="292608"/>
          </a:xfrm>
          <a:prstGeom prst="roundRect">
            <a:avLst>
              <a:gd name="adj" fmla="val 7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4608576"/>
            <a:ext cx="160020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GOVERNS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010912"/>
            <a:ext cx="7772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9.7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4599432"/>
            <a:ext cx="1600200" cy="292608"/>
          </a:xfrm>
          <a:prstGeom prst="roundRect">
            <a:avLst>
              <a:gd name="adj" fmla="val 7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4608576"/>
            <a:ext cx="160020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PARTIALLY_GOVERNS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5010912"/>
            <a:ext cx="7772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7.1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4599432"/>
            <a:ext cx="1600200" cy="292608"/>
          </a:xfrm>
          <a:prstGeom prst="roundRect">
            <a:avLst>
              <a:gd name="adj" fmla="val 7000"/>
            </a:avLst>
          </a:prstGeom>
          <a:solidFill>
            <a:srgbClr val="526570"/>
          </a:solidFill>
          <a:ln>
            <a:solidFill>
              <a:srgbClr val="52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4608576"/>
            <a:ext cx="1600200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RELATED_TO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010912"/>
            <a:ext cx="7772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5.9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5376672"/>
            <a:ext cx="62179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Clean monotonic ordering: GOVERNS &gt; PARTIALLY_GOVERNS &gt; RELATED_TO.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ROB linkage assessment | Management readout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9696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03 | ROB →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Why a hard cutoff would remove useful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607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Governance purity remains broadly stable while legitimate partial-governance edges disappear.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548640" cy="4114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874519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6969"/>
                </a:solidFill>
                <a:latin typeface="Aptos"/>
              </a:rPr>
              <a:t>link_score 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874519"/>
            <a:ext cx="1874519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6969"/>
                </a:solidFill>
                <a:latin typeface="Aptos"/>
              </a:rPr>
              <a:t>Edges kept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79" y="1874519"/>
            <a:ext cx="1874519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6969"/>
                </a:solidFill>
                <a:latin typeface="Aptos"/>
              </a:rPr>
              <a:t>%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599" y="1874519"/>
            <a:ext cx="1874519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96969"/>
                </a:solidFill>
                <a:latin typeface="Aptos"/>
              </a:rPr>
              <a:t>Partials kept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24028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ptos"/>
              </a:rPr>
              <a:t>3,622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79" y="224028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599" y="224028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ptos"/>
              </a:rPr>
              <a:t>99%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2587752"/>
            <a:ext cx="8366760" cy="0"/>
          </a:xfrm>
          <a:prstGeom prst="line">
            <a:avLst/>
          </a:prstGeom>
          <a:ln w="8890">
            <a:solidFill>
              <a:srgbClr val="DA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278892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8892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ptos"/>
              </a:rPr>
              <a:t>2,864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278892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599" y="278892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ptos"/>
              </a:rPr>
              <a:t>78%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136392"/>
            <a:ext cx="8366760" cy="0"/>
          </a:xfrm>
          <a:prstGeom prst="line">
            <a:avLst/>
          </a:prstGeom>
          <a:ln w="8890">
            <a:solidFill>
              <a:srgbClr val="DA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333756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33756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ptos"/>
              </a:rPr>
              <a:t>2,222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79" y="333756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599" y="333756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ptos"/>
              </a:rPr>
              <a:t>60%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3685032"/>
            <a:ext cx="8366760" cy="0"/>
          </a:xfrm>
          <a:prstGeom prst="line">
            <a:avLst/>
          </a:prstGeom>
          <a:ln w="8890">
            <a:solidFill>
              <a:srgbClr val="DA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88620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88620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ptos"/>
              </a:rPr>
              <a:t>1,657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79" y="388620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96%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599" y="3886200"/>
            <a:ext cx="1874519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ptos"/>
              </a:rPr>
              <a:t>45%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4233672"/>
            <a:ext cx="8366760" cy="0"/>
          </a:xfrm>
          <a:prstGeom prst="line">
            <a:avLst/>
          </a:prstGeom>
          <a:ln w="8890">
            <a:solidFill>
              <a:srgbClr val="DAD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13232" y="4736592"/>
            <a:ext cx="10698480" cy="960120"/>
          </a:xfrm>
          <a:prstGeom prst="roundRect">
            <a:avLst>
              <a:gd name="adj" fmla="val 7000"/>
            </a:avLst>
          </a:prstGeom>
          <a:solidFill>
            <a:srgbClr val="FCEFF0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4956048"/>
            <a:ext cx="1005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93392" y="4892040"/>
            <a:ext cx="8915400" cy="3931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The cutoff does not materially improve governance purity; it primarily discards partial-governance relationships and their information.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ROB linkage assessment | Management readout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9696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04 | ROB →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Final policy output: keep every edge, grade its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607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The confidence layer becomes the business-facing filtering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548640" cy="4114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789920" cy="7498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143000" cy="749808"/>
          </a:xfrm>
          <a:prstGeom prst="roundRect">
            <a:avLst>
              <a:gd name="adj" fmla="val 7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75688"/>
            <a:ext cx="1143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029968"/>
            <a:ext cx="2834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ptos"/>
              </a:rPr>
              <a:t>GOVERNS OR PARTIALLY ≥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29968"/>
            <a:ext cx="1463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1,588 | 43%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029968"/>
            <a:ext cx="39319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14141"/>
                </a:solidFill>
                <a:latin typeface="Aptos"/>
              </a:rPr>
              <a:t>High-confidence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70632"/>
            <a:ext cx="10789920" cy="7498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770632"/>
            <a:ext cx="1143000" cy="749808"/>
          </a:xfrm>
          <a:prstGeom prst="roundRect">
            <a:avLst>
              <a:gd name="adj" fmla="val 7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1143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971800"/>
            <a:ext cx="2834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ptos"/>
              </a:rPr>
              <a:t>PARTIALLY 6–7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971800"/>
            <a:ext cx="1463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1,116 | 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971800"/>
            <a:ext cx="39319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14141"/>
                </a:solidFill>
                <a:latin typeface="Aptos"/>
              </a:rPr>
              <a:t>SME confirmation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12464"/>
            <a:ext cx="10789920" cy="7498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712464"/>
            <a:ext cx="1143000" cy="749808"/>
          </a:xfrm>
          <a:prstGeom prst="roundRect">
            <a:avLst>
              <a:gd name="adj" fmla="val 7000"/>
            </a:avLst>
          </a:prstGeom>
          <a:solidFill>
            <a:srgbClr val="D69100"/>
          </a:solidFill>
          <a:ln>
            <a:solidFill>
              <a:srgbClr val="D6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59352"/>
            <a:ext cx="1143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913632"/>
            <a:ext cx="2834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ptos"/>
              </a:rPr>
              <a:t>PARTIALLY &lt;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13632"/>
            <a:ext cx="1463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754 | 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913632"/>
            <a:ext cx="39319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14141"/>
                </a:solidFill>
                <a:latin typeface="Aptos"/>
              </a:rPr>
              <a:t>Flag for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54296"/>
            <a:ext cx="10789920" cy="7498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4654296"/>
            <a:ext cx="1143000" cy="749808"/>
          </a:xfrm>
          <a:prstGeom prst="roundRect">
            <a:avLst>
              <a:gd name="adj" fmla="val 7000"/>
            </a:avLst>
          </a:prstGeom>
          <a:solidFill>
            <a:srgbClr val="526570"/>
          </a:solidFill>
          <a:ln>
            <a:solidFill>
              <a:srgbClr val="52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901184"/>
            <a:ext cx="1143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855464"/>
            <a:ext cx="28346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ptos"/>
              </a:rPr>
              <a:t>RELATED / TANGENTIAL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855464"/>
            <a:ext cx="14630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252 | 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855464"/>
            <a:ext cx="39319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14141"/>
                </a:solidFill>
                <a:latin typeface="Aptos"/>
              </a:rPr>
              <a:t>Graph context; not a governance claim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715000"/>
            <a:ext cx="10789920" cy="502920"/>
          </a:xfrm>
          <a:prstGeom prst="roundRect">
            <a:avLst>
              <a:gd name="adj" fmla="val 7000"/>
            </a:avLst>
          </a:prstGeom>
          <a:solidFill>
            <a:srgbClr val="F8F8F8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52160"/>
            <a:ext cx="11430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Policy decision: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831" y="5815584"/>
            <a:ext cx="77724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Grade rather than cut; preserve the complete typed graph.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ROB linkage assessment | Management readout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9696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05 | ROB →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Procedure linkage shows the same structural pattern — with an additional gap lens.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607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The procedure workstream used 1,180 procedures and produced 4,447 LINKED pairs.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548640" cy="4114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242316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54864" cy="1234440"/>
          </a:xfrm>
          <a:prstGeom prst="rect">
            <a:avLst/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21031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1,180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23160"/>
            <a:ext cx="21031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procedures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706624"/>
            <a:ext cx="21031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global procedure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1755648"/>
            <a:ext cx="242316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1755648"/>
            <a:ext cx="54864" cy="1234440"/>
          </a:xfrm>
          <a:prstGeom prst="rect">
            <a:avLst/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920240"/>
            <a:ext cx="21031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172,008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423160"/>
            <a:ext cx="21031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candidate pairs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706624"/>
            <a:ext cx="21031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moderate overlap + top-K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79008" y="1755648"/>
            <a:ext cx="242316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79008" y="1755648"/>
            <a:ext cx="54864" cy="123444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1920240"/>
            <a:ext cx="21031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4,447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2423160"/>
            <a:ext cx="21031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linked pairs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2706624"/>
            <a:ext cx="21031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after error recovery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39327" y="1755648"/>
            <a:ext cx="2880360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39327" y="1755648"/>
            <a:ext cx="54864" cy="1234440"/>
          </a:xfrm>
          <a:prstGeom prst="rect">
            <a:avLst/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7" y="1920240"/>
            <a:ext cx="25603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1,042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2423160"/>
            <a:ext cx="256032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obligations linked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7" y="2706624"/>
            <a:ext cx="25603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186 procedures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83280"/>
            <a:ext cx="2468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LINKED-EDGE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67328"/>
            <a:ext cx="2011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GOVERNS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3794760"/>
            <a:ext cx="4800600" cy="256032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0" y="3794760"/>
            <a:ext cx="36576" cy="256032"/>
          </a:xfrm>
          <a:prstGeom prst="roundRect">
            <a:avLst>
              <a:gd name="adj" fmla="val 7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79" y="3767328"/>
            <a:ext cx="685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191919"/>
                </a:solidFill>
                <a:latin typeface="Aptos"/>
              </a:rPr>
              <a:t>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767328"/>
            <a:ext cx="5943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6969"/>
                </a:solidFill>
                <a:latin typeface="Aptos"/>
              </a:rPr>
              <a:t>0.4%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88536"/>
            <a:ext cx="2011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PARTIALLY_GOVERNS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4315968"/>
            <a:ext cx="4800600" cy="256032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43200" y="4315968"/>
            <a:ext cx="4320540" cy="256032"/>
          </a:xfrm>
          <a:prstGeom prst="roundRect">
            <a:avLst>
              <a:gd name="adj" fmla="val 7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4288536"/>
            <a:ext cx="685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191919"/>
                </a:solidFill>
                <a:latin typeface="Aptos"/>
              </a:rPr>
              <a:t>4,003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288536"/>
            <a:ext cx="5943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6969"/>
                </a:solidFill>
                <a:latin typeface="Aptos"/>
              </a:rPr>
              <a:t>90.0%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809744"/>
            <a:ext cx="2011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RELATED_TO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4837176"/>
            <a:ext cx="4800600" cy="256032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743200" y="4837176"/>
            <a:ext cx="456057" cy="256032"/>
          </a:xfrm>
          <a:prstGeom prst="roundRect">
            <a:avLst>
              <a:gd name="adj" fmla="val 7000"/>
            </a:avLst>
          </a:prstGeom>
          <a:solidFill>
            <a:srgbClr val="526570"/>
          </a:solidFill>
          <a:ln>
            <a:solidFill>
              <a:srgbClr val="52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26679" y="4809744"/>
            <a:ext cx="685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191919"/>
                </a:solidFill>
                <a:latin typeface="Aptos"/>
              </a:rPr>
              <a:t>421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4809744"/>
            <a:ext cx="5943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6969"/>
                </a:solidFill>
                <a:latin typeface="Aptos"/>
              </a:rPr>
              <a:t>9.5%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330952"/>
            <a:ext cx="2011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414141"/>
                </a:solidFill>
                <a:latin typeface="Aptos"/>
              </a:rPr>
              <a:t>TANGENTIAL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0" y="5358384"/>
            <a:ext cx="4800600" cy="256032"/>
          </a:xfrm>
          <a:prstGeom prst="roundRect">
            <a:avLst>
              <a:gd name="adj" fmla="val 7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43200" y="5358384"/>
            <a:ext cx="36576" cy="256032"/>
          </a:xfrm>
          <a:prstGeom prst="roundRect">
            <a:avLst>
              <a:gd name="adj" fmla="val 7000"/>
            </a:avLst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79" y="5330952"/>
            <a:ext cx="685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191919"/>
                </a:solidFill>
                <a:latin typeface="Aptos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5330952"/>
            <a:ext cx="59436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6969"/>
                </a:solidFill>
                <a:latin typeface="Aptos"/>
              </a:rPr>
              <a:t>0.1%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18320" y="3401568"/>
            <a:ext cx="2103120" cy="2212848"/>
          </a:xfrm>
          <a:prstGeom prst="roundRect">
            <a:avLst>
              <a:gd name="adj" fmla="val 7000"/>
            </a:avLst>
          </a:prstGeom>
          <a:solidFill>
            <a:srgbClr val="FCEFF0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46920" y="3675887"/>
            <a:ext cx="16459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B0011"/>
                </a:solidFill>
                <a:latin typeface="Aptos"/>
              </a:rPr>
              <a:t>Management read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4160520"/>
            <a:ext cx="1600200" cy="7498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91919"/>
                </a:solidFill>
                <a:latin typeface="Aptos"/>
              </a:rPr>
              <a:t>90.0% of linked procedure relationships are PARTIALLY_GOVERNS.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6920" y="5029200"/>
            <a:ext cx="16002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414141"/>
                </a:solidFill>
                <a:latin typeface="Aptos"/>
              </a:rPr>
              <a:t>This is consistent with the policy pattern.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ROB linkage assessment | Management readout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9696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06 | ROB →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The procedure workstream turns partial links into a gap register.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607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For the 4,003 PARTIALLY_GOVERNS links, coverage extent and primary gap category were assessed.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548640" cy="4114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COVERAGE EXTENT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383280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359152"/>
            <a:ext cx="1554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MOSTLY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79192"/>
            <a:ext cx="11430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DB0011"/>
                </a:solidFill>
                <a:latin typeface="Aptos"/>
              </a:rPr>
              <a:t>1,267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706624"/>
            <a:ext cx="6400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6969"/>
                </a:solidFill>
                <a:latin typeface="Aptos"/>
              </a:rPr>
              <a:t>31.6%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48840"/>
            <a:ext cx="3383280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359152"/>
            <a:ext cx="1554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SUBSTANTIAL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679192"/>
            <a:ext cx="11430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91919"/>
                </a:solidFill>
                <a:latin typeface="Aptos"/>
              </a:rPr>
              <a:t>1,885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706624"/>
            <a:ext cx="6400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6969"/>
                </a:solidFill>
                <a:latin typeface="Aptos"/>
              </a:rPr>
              <a:t>47.1%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2148840"/>
            <a:ext cx="3383280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2359152"/>
            <a:ext cx="1554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MINIMAL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2679192"/>
            <a:ext cx="11430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D69100"/>
                </a:solidFill>
                <a:latin typeface="Aptos"/>
              </a:rPr>
              <a:t>851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706624"/>
            <a:ext cx="6400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1000" b="1">
                <a:solidFill>
                  <a:srgbClr val="696969"/>
                </a:solidFill>
                <a:latin typeface="Aptos"/>
              </a:rPr>
              <a:t>21.3%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22860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PRIMARY GAP CATEGORIES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50208"/>
            <a:ext cx="2578608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950208"/>
            <a:ext cx="54864" cy="1170432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78808"/>
            <a:ext cx="20116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414141"/>
                </a:solidFill>
                <a:latin typeface="Aptos"/>
              </a:rPr>
              <a:t>MISSING_SCOPE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90288"/>
            <a:ext cx="10058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DB0011"/>
                </a:solidFill>
                <a:latin typeface="Aptos"/>
              </a:rPr>
              <a:t>1,313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617720"/>
            <a:ext cx="502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696969"/>
                </a:solidFill>
                <a:latin typeface="Aptos"/>
              </a:rPr>
              <a:t>32.8%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0712" y="3950208"/>
            <a:ext cx="2578608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10712" y="3950208"/>
            <a:ext cx="54864" cy="1170432"/>
          </a:xfrm>
          <a:prstGeom prst="rect">
            <a:avLst/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2" y="4178808"/>
            <a:ext cx="20116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414141"/>
                </a:solidFill>
                <a:latin typeface="Aptos"/>
              </a:rPr>
              <a:t>MISSING_CONTROL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4590288"/>
            <a:ext cx="10058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977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4617720"/>
            <a:ext cx="502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696969"/>
                </a:solidFill>
                <a:latin typeface="Aptos"/>
              </a:rPr>
              <a:t>24.4%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35624" y="3950208"/>
            <a:ext cx="2578608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35624" y="3950208"/>
            <a:ext cx="54864" cy="1170432"/>
          </a:xfrm>
          <a:prstGeom prst="rect">
            <a:avLst/>
          </a:prstGeom>
          <a:solidFill>
            <a:srgbClr val="526570"/>
          </a:solidFill>
          <a:ln>
            <a:solidFill>
              <a:srgbClr val="52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4178808"/>
            <a:ext cx="20116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414141"/>
                </a:solidFill>
                <a:latin typeface="Aptos"/>
              </a:rPr>
              <a:t>MISSING_PROCESS_STEP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8504" y="4590288"/>
            <a:ext cx="10058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526570"/>
                </a:solidFill>
                <a:latin typeface="Aptos"/>
              </a:rPr>
              <a:t>855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18704" y="4617720"/>
            <a:ext cx="502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696969"/>
                </a:solidFill>
                <a:latin typeface="Aptos"/>
              </a:rPr>
              <a:t>21.4%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0536" y="3950208"/>
            <a:ext cx="2578608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0536" y="3950208"/>
            <a:ext cx="54864" cy="1170432"/>
          </a:xfrm>
          <a:prstGeom prst="rect">
            <a:avLst/>
          </a:prstGeom>
          <a:solidFill>
            <a:srgbClr val="696969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43415" y="4178808"/>
            <a:ext cx="20116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414141"/>
                </a:solidFill>
                <a:latin typeface="Aptos"/>
              </a:rPr>
              <a:t>MISSING_DOCUMENTATION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3415" y="4590288"/>
            <a:ext cx="100584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696969"/>
                </a:solidFill>
                <a:latin typeface="Aptos"/>
              </a:rPr>
              <a:t>340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43615" y="4617720"/>
            <a:ext cx="5029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696969"/>
                </a:solidFill>
                <a:latin typeface="Aptos"/>
              </a:rPr>
              <a:t>8.5%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413248"/>
            <a:ext cx="10789920" cy="640080"/>
          </a:xfrm>
          <a:prstGeom prst="roundRect">
            <a:avLst>
              <a:gd name="adj" fmla="val 7000"/>
            </a:avLst>
          </a:prstGeom>
          <a:solidFill>
            <a:srgbClr val="FCEFF0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605272"/>
            <a:ext cx="9144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Priority 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47088" y="5559552"/>
            <a:ext cx="813816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709 = MINIMAL coverage + a CONTROL / PROCESS / SCOPE gap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ROB linkage assessment | Management readout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9696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07 | COMBINED READOUT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Policy and Procedure independently converge on the same finding.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607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The common signal is strong enough to drive the management conversation.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548640" cy="4114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166360" cy="3611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26480" y="1783080"/>
            <a:ext cx="5166360" cy="3611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182880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B0011"/>
                </a:solidFill>
                <a:latin typeface="Aptos"/>
              </a:rPr>
              <a:t>ROB →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164592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91919"/>
                </a:solidFill>
                <a:latin typeface="Aptos"/>
              </a:rPr>
              <a:t>3,710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779776"/>
            <a:ext cx="1554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14141"/>
                </a:solidFill>
                <a:latin typeface="Aptos"/>
              </a:rPr>
              <a:t>linked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20440"/>
            <a:ext cx="15544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DB0011"/>
                </a:solidFill>
                <a:latin typeface="Aptos"/>
              </a:rPr>
              <a:t>91.4%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685032"/>
            <a:ext cx="2468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PARTIALLY_GOVERNS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15968"/>
            <a:ext cx="425196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14141"/>
                </a:solidFill>
                <a:latin typeface="Aptos"/>
              </a:rPr>
              <a:t>Confidence tiering is the appropriate
way to retain useful partial relationships.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057400"/>
            <a:ext cx="210312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B0011"/>
                </a:solidFill>
                <a:latin typeface="Aptos"/>
              </a:rPr>
              <a:t>ROB → PROCEDURE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560320"/>
            <a:ext cx="1645920" cy="5943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200" b="1">
                <a:solidFill>
                  <a:srgbClr val="191919"/>
                </a:solidFill>
                <a:latin typeface="Aptos"/>
              </a:rPr>
              <a:t>4,447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2779776"/>
            <a:ext cx="15544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414141"/>
                </a:solidFill>
                <a:latin typeface="Aptos"/>
              </a:rPr>
              <a:t>linked pairs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520440"/>
            <a:ext cx="15544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DB0011"/>
                </a:solidFill>
                <a:latin typeface="Aptos"/>
              </a:rPr>
              <a:t>90.0%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3685032"/>
            <a:ext cx="246888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PARTIALLY_GOVERNS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315968"/>
            <a:ext cx="4251960" cy="5669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414141"/>
                </a:solidFill>
                <a:latin typeface="Aptos"/>
              </a:rPr>
              <a:t>Partial relationships can be further
translated into coverage and gap categories.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650992"/>
            <a:ext cx="9464040" cy="566928"/>
          </a:xfrm>
          <a:prstGeom prst="roundRect">
            <a:avLst>
              <a:gd name="adj" fmla="val 7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2768" y="5806440"/>
            <a:ext cx="90525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ONE CONSISTENT SIGNAL  |  Governance is predominantly partial, so preserve the edge and expose the gap.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ROB linkage assessment | Management readout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9696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27432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08 | MANAGEMENT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The analytical decisions are now explicit.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60704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A concise close: what the two workstreams establish and what management can react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44752"/>
            <a:ext cx="548640" cy="41148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865376"/>
            <a:ext cx="384048" cy="384048"/>
          </a:xfrm>
          <a:prstGeom prst="ellipse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56816"/>
            <a:ext cx="38404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828800"/>
            <a:ext cx="29260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KEEP THE GRAPH TYPED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828800"/>
            <a:ext cx="662940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14141"/>
                </a:solidFill>
                <a:latin typeface="Aptos"/>
              </a:rPr>
              <a:t>GOVERNS / PARTIALLY_GOVERNS / RELATED_TO / TANGENTIAL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98064"/>
            <a:ext cx="384048" cy="384048"/>
          </a:xfrm>
          <a:prstGeom prst="ellipse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89504"/>
            <a:ext cx="38404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61488"/>
            <a:ext cx="29260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GRADE, DON'T CUT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761488"/>
            <a:ext cx="662940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14141"/>
                </a:solidFill>
                <a:latin typeface="Aptos"/>
              </a:rPr>
              <a:t>link_score is the useful discriminator; hard cutoffs discard partials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730752"/>
            <a:ext cx="384048" cy="384048"/>
          </a:xfrm>
          <a:prstGeom prst="ellipse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22191"/>
            <a:ext cx="38404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694176"/>
            <a:ext cx="29260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MAKE PARTIALS ACTIONABLE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694176"/>
            <a:ext cx="662940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14141"/>
                </a:solidFill>
                <a:latin typeface="Aptos"/>
              </a:rPr>
              <a:t>Procedure partials → coverage extent + gap category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663440"/>
            <a:ext cx="384048" cy="384048"/>
          </a:xfrm>
          <a:prstGeom prst="ellipse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38404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626864"/>
            <a:ext cx="29260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91919"/>
                </a:solidFill>
                <a:latin typeface="Aptos"/>
              </a:rPr>
              <a:t>USE THE OUTPUT AS FIRST-PASS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626864"/>
            <a:ext cx="6629400" cy="3474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14141"/>
                </a:solidFill>
                <a:latin typeface="Aptos"/>
              </a:rPr>
              <a:t>High-confidence relationships can be surfaced first; lower tiers route to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687568"/>
            <a:ext cx="10789920" cy="621792"/>
          </a:xfrm>
          <a:prstGeom prst="roundRect">
            <a:avLst>
              <a:gd name="adj" fmla="val 7000"/>
            </a:avLst>
          </a:prstGeom>
          <a:solidFill>
            <a:srgbClr val="F8F8F8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870448"/>
            <a:ext cx="9601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B0011"/>
                </a:solidFill>
                <a:latin typeface="Aptos"/>
              </a:rPr>
              <a:t>Bottom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3392" y="5824728"/>
            <a:ext cx="900684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91919"/>
                </a:solidFill>
                <a:latin typeface="Aptos"/>
              </a:rPr>
              <a:t>ROB → Policy and ROB → Procedure are now represented as structured, reviewable governance relationships with measurable confidence / coverage signals.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00" b="0">
                <a:solidFill>
                  <a:srgbClr val="696969"/>
                </a:solidFill>
                <a:latin typeface="Aptos"/>
              </a:rPr>
              <a:t>ROB linkage assessment | Management readout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28816"/>
            <a:ext cx="502920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96969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74320"/>
            <a:ext cx="292608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01 | THE LINKAGE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0789920" cy="4114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From 3,180 obligations to typed governance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033271"/>
            <a:ext cx="10789920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96969"/>
                </a:solidFill>
                <a:latin typeface="Aptos"/>
              </a:rPr>
              <a:t>One common ROB population → two independent linkage workstreams → progressively more informative outputs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11018520" cy="621792"/>
          </a:xfrm>
          <a:prstGeom prst="roundRect">
            <a:avLst>
              <a:gd name="adj" fmla="val 7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194560" cy="1828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CDCDC"/>
                </a:solidFill>
                <a:latin typeface="Aptos"/>
              </a:rPr>
              <a:t>COMMON STARTING POPULATION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609344"/>
            <a:ext cx="3108960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3,180 US OBLIGATIONS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645920"/>
            <a:ext cx="1828800" cy="1828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DCDCDC"/>
                </a:solidFill>
                <a:latin typeface="Aptos"/>
              </a:rPr>
              <a:t>RegMap Extract 6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291840" y="2194560"/>
            <a:ext cx="2788920" cy="347472"/>
          </a:xfrm>
          <a:prstGeom prst="line">
            <a:avLst/>
          </a:prstGeom>
          <a:ln w="25400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60" y="2194560"/>
            <a:ext cx="2788920" cy="347472"/>
          </a:xfrm>
          <a:prstGeom prst="line">
            <a:avLst/>
          </a:prstGeom>
          <a:ln w="25400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" y="2578608"/>
            <a:ext cx="5166360" cy="438912"/>
          </a:xfrm>
          <a:prstGeom prst="roundRect">
            <a:avLst>
              <a:gd name="adj" fmla="val 7000"/>
            </a:avLst>
          </a:prstGeom>
          <a:solidFill>
            <a:srgbClr val="DB0011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60904"/>
            <a:ext cx="5166360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ROB →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2578608"/>
            <a:ext cx="5166360" cy="438912"/>
          </a:xfrm>
          <a:prstGeom prst="roundRect">
            <a:avLst>
              <a:gd name="adj" fmla="val 7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660904"/>
            <a:ext cx="5166360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ROB → PROCEDURE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18688"/>
            <a:ext cx="242316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55848"/>
            <a:ext cx="960120" cy="3200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91919"/>
                </a:solidFill>
                <a:latin typeface="Aptos"/>
              </a:rPr>
              <a:t>282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374136"/>
            <a:ext cx="96012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64646"/>
                </a:solidFill>
                <a:latin typeface="Aptos"/>
              </a:rPr>
              <a:t>policies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767328"/>
            <a:ext cx="1965960" cy="1828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26 US local + 256 global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0128" y="3218688"/>
            <a:ext cx="242316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355848"/>
            <a:ext cx="1143000" cy="3200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91919"/>
                </a:solidFill>
                <a:latin typeface="Aptos"/>
              </a:rPr>
              <a:t>61,962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374136"/>
            <a:ext cx="96012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64646"/>
                </a:solidFill>
                <a:latin typeface="Aptos"/>
              </a:rPr>
              <a:t>candidate pairs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3767328"/>
            <a:ext cx="1965960" cy="1828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taxonomy-filtered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0088" y="3685032"/>
            <a:ext cx="320040" cy="0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19088" y="3218688"/>
            <a:ext cx="242316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3355848"/>
            <a:ext cx="1005840" cy="3200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91919"/>
                </a:solidFill>
                <a:latin typeface="Aptos"/>
              </a:rPr>
              <a:t>1,180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3374136"/>
            <a:ext cx="105156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64646"/>
                </a:solidFill>
                <a:latin typeface="Aptos"/>
              </a:rPr>
              <a:t>procedures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3767328"/>
            <a:ext cx="1965960" cy="1828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distinct global procedures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62288" y="3218688"/>
            <a:ext cx="242316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5168" y="3355848"/>
            <a:ext cx="1143000" cy="3200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191919"/>
                </a:solidFill>
                <a:latin typeface="Aptos"/>
              </a:rPr>
              <a:t>172,008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7584" y="3374136"/>
            <a:ext cx="100584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464646"/>
                </a:solidFill>
                <a:latin typeface="Aptos"/>
              </a:rPr>
              <a:t>candidate pairs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8" y="3767328"/>
            <a:ext cx="1965960" cy="1828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moderate overlap + top-K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842248" y="3685032"/>
            <a:ext cx="320040" cy="0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66928" y="4407408"/>
            <a:ext cx="5166360" cy="841248"/>
          </a:xfrm>
          <a:prstGeom prst="roundRect">
            <a:avLst>
              <a:gd name="adj" fmla="val 7000"/>
            </a:avLst>
          </a:prstGeom>
          <a:solidFill>
            <a:srgbClr val="FDEFF0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544568"/>
            <a:ext cx="118872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DB0011"/>
                </a:solidFill>
                <a:latin typeface="Aptos"/>
              </a:rPr>
              <a:t>3,710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4572000"/>
            <a:ext cx="137160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ptos"/>
              </a:rPr>
              <a:t>LINKED PAIRS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4572000"/>
            <a:ext cx="210312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464646"/>
                </a:solidFill>
                <a:latin typeface="Aptos"/>
              </a:rPr>
              <a:t>1,402 obligations  |  64 policies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26280" y="4160520"/>
            <a:ext cx="0" cy="246888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19088" y="4407408"/>
            <a:ext cx="5166360" cy="841248"/>
          </a:xfrm>
          <a:prstGeom prst="roundRect">
            <a:avLst>
              <a:gd name="adj" fmla="val 7000"/>
            </a:avLst>
          </a:prstGeom>
          <a:solidFill>
            <a:srgbClr val="FDEFF0"/>
          </a:solidFill>
          <a:ln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544568"/>
            <a:ext cx="118872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DB0011"/>
                </a:solidFill>
                <a:latin typeface="Aptos"/>
              </a:rPr>
              <a:t>4,447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4572000"/>
            <a:ext cx="137160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91919"/>
                </a:solidFill>
                <a:latin typeface="Aptos"/>
              </a:rPr>
              <a:t>LINKED PAIRS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572000"/>
            <a:ext cx="219456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950" b="0">
                <a:solidFill>
                  <a:srgbClr val="464646"/>
                </a:solidFill>
                <a:latin typeface="Aptos"/>
              </a:rPr>
              <a:t>1,042 obligations  |  186 procedures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378440" y="4160520"/>
            <a:ext cx="0" cy="246888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66928" y="5468112"/>
            <a:ext cx="5166360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77840"/>
            <a:ext cx="960120" cy="1828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EDGE TYPES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5559552"/>
            <a:ext cx="3611880" cy="23774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950" b="1">
                <a:solidFill>
                  <a:srgbClr val="191919"/>
                </a:solidFill>
                <a:latin typeface="Aptos"/>
              </a:rPr>
              <a:t>68 GOVERNS  •  3,390 PARTIALLY  •  252 RELATED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54680" y="5248656"/>
            <a:ext cx="0" cy="219456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419088" y="5468112"/>
            <a:ext cx="5166360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5577840"/>
            <a:ext cx="960120" cy="1828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900" b="1">
                <a:solidFill>
                  <a:srgbClr val="DB0011"/>
                </a:solidFill>
                <a:latin typeface="Aptos"/>
              </a:rPr>
              <a:t>EDGE TYPES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5541264"/>
            <a:ext cx="3703320" cy="29260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69" b="1">
                <a:solidFill>
                  <a:srgbClr val="191919"/>
                </a:solidFill>
                <a:latin typeface="Aptos"/>
              </a:rPr>
              <a:t>18 GOVERNS  •  4,003 PARTIALLY  •  421 RELATED  •  4 TANGENTIAL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006840" y="5248656"/>
            <a:ext cx="0" cy="219456"/>
          </a:xfrm>
          <a:prstGeom prst="line">
            <a:avLst/>
          </a:prstGeom>
          <a:ln w="2540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566928" y="6345936"/>
            <a:ext cx="11018520" cy="384048"/>
          </a:xfrm>
          <a:prstGeom prst="roundRect">
            <a:avLst>
              <a:gd name="adj" fmla="val 7000"/>
            </a:avLst>
          </a:prstGeom>
          <a:solidFill>
            <a:srgbClr val="191919"/>
          </a:solidFill>
          <a:ln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6400800"/>
            <a:ext cx="10607040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The key transition:  candidate pairs  →  judged links  →  typed edges  →  confidence / coverage interpretation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