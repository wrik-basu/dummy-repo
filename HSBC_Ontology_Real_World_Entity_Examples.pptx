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182880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21207"/>
            <a:ext cx="10972800" cy="438912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Step 1 — Agree what each entity actually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31089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Use one real-world regulatory scenario to show the business what we mean by each node — and what is still a business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657600" cy="14630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700" b="1">
                <a:solidFill>
                  <a:srgbClr val="5C5C5C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20040" cy="14630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10863072" cy="621792"/>
          </a:xfrm>
          <a:prstGeom prst="roundRect">
            <a:avLst/>
          </a:prstGeom>
          <a:solidFill>
            <a:srgbClr val="FCEBED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53896"/>
            <a:ext cx="1828800" cy="164592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9" b="1">
                <a:solidFill>
                  <a:srgbClr val="DB0011"/>
                </a:solidFill>
                <a:latin typeface="Aptos"/>
              </a:rPr>
              <a:t>ILLUSTRATIVE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426464"/>
            <a:ext cx="868680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31F20"/>
                </a:solidFill>
                <a:latin typeface="Aptos"/>
              </a:rPr>
              <a:t>Electronic communications recording &amp; surveillance — investment-firm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39696"/>
            <a:ext cx="1188720" cy="411480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203704"/>
            <a:ext cx="1042416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ptos"/>
              </a:rPr>
              <a:t>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2139696"/>
            <a:ext cx="3913631" cy="411480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203704"/>
            <a:ext cx="3767327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ptos"/>
              </a:rPr>
              <a:t>REAL-WORLD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139696"/>
            <a:ext cx="5760720" cy="411480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2203704"/>
            <a:ext cx="5614416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ptos"/>
              </a:rPr>
              <a:t>WHY THIS IS THE 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51176"/>
            <a:ext cx="1188720" cy="530352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587752"/>
            <a:ext cx="1042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1">
                <a:solidFill>
                  <a:srgbClr val="DB0011"/>
                </a:solidFill>
                <a:latin typeface="Aptos"/>
              </a:rPr>
              <a:t>RGL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47088" y="2551176"/>
            <a:ext cx="3913631" cy="530352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587752"/>
            <a:ext cx="3767327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MiFID II — requirements covering recording/retention of relevant telephone &amp; electronic communications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551176"/>
            <a:ext cx="5760720" cy="530352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2587752"/>
            <a:ext cx="5614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The external regulatory instrument that creates the regulatory requirement.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081528"/>
            <a:ext cx="11887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3118104"/>
            <a:ext cx="1042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1">
                <a:solidFill>
                  <a:srgbClr val="DB0011"/>
                </a:solidFill>
                <a:latin typeface="Aptos"/>
              </a:rPr>
              <a:t>RSM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47088" y="3081528"/>
            <a:ext cx="391363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3118104"/>
            <a:ext cx="3767327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“Relevant client / trading communications must be recorded and retained in line with applicable regulatory requirements.”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3081528"/>
            <a:ext cx="57607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3872" y="3118104"/>
            <a:ext cx="5614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An internal regulatory interpretation/summary of what the regulation requires.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611880"/>
            <a:ext cx="118872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3648456"/>
            <a:ext cx="1042416" cy="49377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1">
                <a:solidFill>
                  <a:srgbClr val="DB0011"/>
                </a:solidFill>
                <a:latin typeface="Aptos"/>
              </a:rPr>
              <a:t>ROB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47088" y="3611880"/>
            <a:ext cx="3913631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3648456"/>
            <a:ext cx="3767327" cy="49377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“Firm must record and retain relevant employee electronic communications relating to in-scope activities.”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3611880"/>
            <a:ext cx="576072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3648456"/>
            <a:ext cx="5614416" cy="49377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A specific, actionable obligation that can be mapped to internal governance.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178808"/>
            <a:ext cx="11887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" y="4215384"/>
            <a:ext cx="1042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1">
                <a:solidFill>
                  <a:srgbClr val="DB0011"/>
                </a:solidFill>
                <a:latin typeface="Aptos"/>
              </a:rPr>
              <a:t>Policy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47088" y="4178808"/>
            <a:ext cx="391363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40" y="4215384"/>
            <a:ext cx="3767327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Electronic Communications Recording &amp; Surveillance Policy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4178808"/>
            <a:ext cx="57607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3872" y="4215384"/>
            <a:ext cx="5614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The internal policy that establishes the bank’s principles, requirements and governance for meeting the obligation.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709160"/>
            <a:ext cx="1188720" cy="530352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19" y="4745736"/>
            <a:ext cx="1042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1">
                <a:solidFill>
                  <a:srgbClr val="DB0011"/>
                </a:solidFill>
                <a:latin typeface="Aptos"/>
              </a:rPr>
              <a:t>Procedure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47088" y="4709160"/>
            <a:ext cx="3913631" cy="530352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0240" y="4745736"/>
            <a:ext cx="3767327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Electronic Communications Recording Procedure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4709160"/>
            <a:ext cx="5760720" cy="530352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33872" y="4745736"/>
            <a:ext cx="5614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The operational process explaining how communications are captured, retained, reviewed and handled.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239512"/>
            <a:ext cx="11887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19" y="5276088"/>
            <a:ext cx="1042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1">
                <a:solidFill>
                  <a:srgbClr val="DB0011"/>
                </a:solidFill>
                <a:latin typeface="Aptos"/>
              </a:rPr>
              <a:t>L1C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47088" y="5239512"/>
            <a:ext cx="391363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40" y="5276088"/>
            <a:ext cx="3767327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Communications Surveillance / Recording — Library Control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5239512"/>
            <a:ext cx="57607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33872" y="5276088"/>
            <a:ext cx="5614416" cy="457199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A reusable control grouping used to organise related controls in the control library.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5769864"/>
            <a:ext cx="118872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19" y="5806440"/>
            <a:ext cx="1042416" cy="49377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1">
                <a:solidFill>
                  <a:srgbClr val="DB0011"/>
                </a:solidFill>
                <a:latin typeface="Aptos"/>
              </a:rPr>
              <a:t>Control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47088" y="5769864"/>
            <a:ext cx="3913631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20240" y="5806440"/>
            <a:ext cx="3767327" cy="49377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“Perform periodic surveillance of in-scope electronic communications and evidence review / escalation.”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5769864"/>
            <a:ext cx="576072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33872" y="5806440"/>
            <a:ext cx="5614416" cy="49377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5" b="0">
                <a:solidFill>
                  <a:srgbClr val="231F20"/>
                </a:solidFill>
                <a:latin typeface="Aptos"/>
              </a:rPr>
              <a:t>A specific control activity that can be executed, tested and evidenced.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6199632"/>
            <a:ext cx="10863072" cy="274320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" y="6227064"/>
            <a:ext cx="10497312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Notice: the LLM can extract these candidates — but the business still decides whether the document / statement genuinely belongs to that entity class.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182880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21207"/>
            <a:ext cx="10972800" cy="438912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The same example becomes a graph only after the semantics are agreed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31089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ptos"/>
              </a:rPr>
              <a:t>The value of the ontology is that each node and edge has a defined business meaning — not simply a high semantic similarity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657600" cy="14630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700" b="1">
                <a:solidFill>
                  <a:srgbClr val="5C5C5C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20040" cy="14630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4173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441448"/>
            <a:ext cx="1271016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DB0011"/>
                </a:solidFill>
                <a:latin typeface="Aptos"/>
              </a:rPr>
              <a:t>RGL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34056"/>
            <a:ext cx="1234440" cy="38404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Aptos"/>
              </a:rPr>
              <a:t>MiFID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123444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750" b="0">
                <a:solidFill>
                  <a:srgbClr val="5C5C5C"/>
                </a:solidFill>
                <a:latin typeface="Aptos"/>
              </a:rPr>
              <a:t>External 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9384" y="2761487"/>
            <a:ext cx="320040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2331720"/>
            <a:ext cx="14173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1992" y="2441448"/>
            <a:ext cx="1271016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231F20"/>
                </a:solidFill>
                <a:latin typeface="Aptos"/>
              </a:rPr>
              <a:t>RSM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734056"/>
            <a:ext cx="1234440" cy="38404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Aptos"/>
              </a:rPr>
              <a:t>Recording &amp; retention
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200400"/>
            <a:ext cx="123444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750" b="0">
                <a:solidFill>
                  <a:srgbClr val="5C5C5C"/>
                </a:solidFill>
                <a:latin typeface="Aptos"/>
              </a:rPr>
              <a:t>Internal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761487"/>
            <a:ext cx="320040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2331720"/>
            <a:ext cx="14173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441448"/>
            <a:ext cx="1271016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DB0011"/>
                </a:solidFill>
                <a:latin typeface="Aptos"/>
              </a:rPr>
              <a:t>ROB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734056"/>
            <a:ext cx="1234440" cy="38404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Aptos"/>
              </a:rPr>
              <a:t>Record relevant
communications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200400"/>
            <a:ext cx="123444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750" b="0">
                <a:solidFill>
                  <a:srgbClr val="5C5C5C"/>
                </a:solidFill>
                <a:latin typeface="Aptos"/>
              </a:rPr>
              <a:t>Actionable obligation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761487"/>
            <a:ext cx="320040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2331720"/>
            <a:ext cx="15087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2" y="2441448"/>
            <a:ext cx="1362456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231F20"/>
                </a:solidFill>
                <a:latin typeface="Aptos"/>
              </a:rPr>
              <a:t>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734056"/>
            <a:ext cx="1325880" cy="38404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Aptos"/>
              </a:rPr>
              <a:t>EC Recording &amp;
Surveillance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200400"/>
            <a:ext cx="132588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750" b="0">
                <a:solidFill>
                  <a:srgbClr val="5C5C5C"/>
                </a:solidFill>
                <a:latin typeface="Aptos"/>
              </a:rPr>
              <a:t>Internal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3" y="2761487"/>
            <a:ext cx="320040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2331720"/>
            <a:ext cx="15087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51192" y="2441448"/>
            <a:ext cx="1362456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231F20"/>
                </a:solidFill>
                <a:latin typeface="Aptos"/>
              </a:rPr>
              <a:t>PROCEDURE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2734056"/>
            <a:ext cx="1325880" cy="38404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Aptos"/>
              </a:rPr>
              <a:t>EC Recording
Procedure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79" y="3200400"/>
            <a:ext cx="132588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750" b="0">
                <a:solidFill>
                  <a:srgbClr val="5C5C5C"/>
                </a:solidFill>
                <a:latin typeface="Aptos"/>
              </a:rPr>
              <a:t>Operational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5944" y="2761487"/>
            <a:ext cx="320040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2331720"/>
            <a:ext cx="14173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8552" y="2441448"/>
            <a:ext cx="1271016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231F20"/>
                </a:solidFill>
                <a:latin typeface="Aptos"/>
              </a:rPr>
              <a:t>L1C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734056"/>
            <a:ext cx="1234440" cy="38404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Aptos"/>
              </a:rPr>
              <a:t>Communications
Surveillance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200400"/>
            <a:ext cx="123444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750" b="0">
                <a:solidFill>
                  <a:srgbClr val="5C5C5C"/>
                </a:solidFill>
                <a:latin typeface="Aptos"/>
              </a:rPr>
              <a:t>Control grouping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41864" y="2761487"/>
            <a:ext cx="320040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2331720"/>
            <a:ext cx="16002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34472" y="2441448"/>
            <a:ext cx="1453896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DB0011"/>
                </a:solidFill>
                <a:latin typeface="Aptos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2734056"/>
            <a:ext cx="1417320" cy="38404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Aptos"/>
              </a:rPr>
              <a:t>Surveillance of
in-scope communications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3200400"/>
            <a:ext cx="1417320" cy="18288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750" b="0">
                <a:solidFill>
                  <a:srgbClr val="5C5C5C"/>
                </a:solidFill>
                <a:latin typeface="Aptos"/>
              </a:rPr>
              <a:t>Executable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977639"/>
            <a:ext cx="3200400" cy="219456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919" b="1">
                <a:solidFill>
                  <a:srgbClr val="DB0011"/>
                </a:solidFill>
                <a:latin typeface="Aptos"/>
              </a:rPr>
              <a:t>RELATIONSHIP SEMANTICS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297680"/>
            <a:ext cx="123444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231F20"/>
                </a:solidFill>
                <a:latin typeface="Aptos"/>
              </a:rPr>
              <a:t>RGL → RSM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4297680"/>
            <a:ext cx="205740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DB0011"/>
                </a:solidFill>
                <a:latin typeface="Aptos"/>
              </a:rPr>
              <a:t>CONTAINS / REPRESENTED_BY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87952" y="4297680"/>
            <a:ext cx="315468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0" b="0">
                <a:solidFill>
                  <a:srgbClr val="231F20"/>
                </a:solidFill>
                <a:latin typeface="Aptos"/>
              </a:rPr>
              <a:t>regulatory structure → internal interpretation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4636008"/>
            <a:ext cx="123444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231F20"/>
                </a:solidFill>
                <a:latin typeface="Aptos"/>
              </a:rPr>
              <a:t>RSM → ROB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4636008"/>
            <a:ext cx="205740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DB0011"/>
                </a:solidFill>
                <a:latin typeface="Aptos"/>
              </a:rPr>
              <a:t>DECOMPOSES_TO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87952" y="4636008"/>
            <a:ext cx="315468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0" b="0">
                <a:solidFill>
                  <a:srgbClr val="231F20"/>
                </a:solidFill>
                <a:latin typeface="Aptos"/>
              </a:rPr>
              <a:t>summary → actionable obligation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4974336"/>
            <a:ext cx="123444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231F20"/>
                </a:solidFill>
                <a:latin typeface="Aptos"/>
              </a:rPr>
              <a:t>ROB → Policy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4974336"/>
            <a:ext cx="205740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DB0011"/>
                </a:solidFill>
                <a:latin typeface="Aptos"/>
              </a:rPr>
              <a:t>ADDRESSED_BY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87952" y="4974336"/>
            <a:ext cx="315468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0" b="0">
                <a:solidFill>
                  <a:srgbClr val="231F20"/>
                </a:solidFill>
                <a:latin typeface="Aptos"/>
              </a:rPr>
              <a:t>policy addresses the requirement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312664"/>
            <a:ext cx="123444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231F20"/>
                </a:solidFill>
                <a:latin typeface="Aptos"/>
              </a:rPr>
              <a:t>ROB → Procedure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1680" y="5312664"/>
            <a:ext cx="205740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DB0011"/>
                </a:solidFill>
                <a:latin typeface="Aptos"/>
              </a:rPr>
              <a:t>IMPLEMENTED_BY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87952" y="5312664"/>
            <a:ext cx="315468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0" b="0">
                <a:solidFill>
                  <a:srgbClr val="231F20"/>
                </a:solidFill>
                <a:latin typeface="Aptos"/>
              </a:rPr>
              <a:t>procedure operationalises the requirement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5650992"/>
            <a:ext cx="123444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231F20"/>
                </a:solidFill>
                <a:latin typeface="Aptos"/>
              </a:rPr>
              <a:t>Policy → 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0" y="5650992"/>
            <a:ext cx="205740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DB0011"/>
                </a:solidFill>
                <a:latin typeface="Aptos"/>
              </a:rPr>
              <a:t>IMPLEMENTS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87952" y="5650992"/>
            <a:ext cx="315468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0" b="0">
                <a:solidFill>
                  <a:srgbClr val="231F20"/>
                </a:solidFill>
                <a:latin typeface="Aptos"/>
              </a:rPr>
              <a:t>control implements policy requirement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5989320"/>
            <a:ext cx="123444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231F20"/>
                </a:solidFill>
                <a:latin typeface="Aptos"/>
              </a:rPr>
              <a:t>Procedure → Control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0" y="5989320"/>
            <a:ext cx="205740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30" b="1">
                <a:solidFill>
                  <a:srgbClr val="DB0011"/>
                </a:solidFill>
                <a:latin typeface="Aptos"/>
              </a:rPr>
              <a:t>IMPLEMENTS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7952" y="5989320"/>
            <a:ext cx="3154680" cy="22860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810" b="0">
                <a:solidFill>
                  <a:srgbClr val="231F20"/>
                </a:solidFill>
                <a:latin typeface="Aptos"/>
              </a:rPr>
              <a:t>control operationalises procedure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35240" y="4224528"/>
            <a:ext cx="3886200" cy="1783080"/>
          </a:xfrm>
          <a:prstGeom prst="roundRect">
            <a:avLst/>
          </a:prstGeom>
          <a:solidFill>
            <a:srgbClr val="FCEBED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45552" y="4370832"/>
            <a:ext cx="3474720" cy="20116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THE BUSINESS DECISION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45552" y="4681728"/>
            <a:ext cx="3429000" cy="1078992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231F20"/>
                </a:solidFill>
                <a:latin typeface="Aptos"/>
              </a:rPr>
              <a:t>Is “ROB → Policy” really ADDRESSED_BY?
Or does the Policy merely REFERENCE the ROB?
That semantic distinction determines the graph edge.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6327648"/>
            <a:ext cx="10863072" cy="228600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" y="6345936"/>
            <a:ext cx="10497312" cy="164592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AI proposes candidates  →  SMEs validate meaning  →  Owner approves  →  Graph stores the governed relationship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