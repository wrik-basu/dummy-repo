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457200"/>
            <a:ext cx="502920" cy="502920"/>
          </a:xfrm>
          <a:prstGeom prst="hexagon">
            <a:avLst/>
          </a:prstGeom>
          <a:solidFill>
            <a:srgbClr val="DB0011"/>
          </a:solidFill>
          <a:ln/>
        </p:spPr>
      </p:sp>
      <p:sp>
        <p:nvSpPr>
          <p:cNvPr id="3" name="Shape 1"/>
          <p:cNvSpPr/>
          <p:nvPr/>
        </p:nvSpPr>
        <p:spPr>
          <a:xfrm>
            <a:off x="11658600" y="777240"/>
            <a:ext cx="502920" cy="502920"/>
          </a:xfrm>
          <a:prstGeom prst="hexagon">
            <a:avLst/>
          </a:prstGeom>
          <a:solidFill>
            <a:srgbClr val="DB0011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1097280"/>
            <a:ext cx="502920" cy="502920"/>
          </a:xfrm>
          <a:prstGeom prst="hexagon">
            <a:avLst/>
          </a:prstGeom>
          <a:solidFill>
            <a:srgbClr val="DB00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  ·  GENAI SOLUTION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Alert Impact Assessment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flow, and how it compares to an ontology / graph-database design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 · Senior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FLOW · 1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Alert to Regulation, Summary &amp; Obligation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697480"/>
            <a:ext cx="1600200" cy="1371600"/>
          </a:xfrm>
          <a:prstGeom prst="can">
            <a:avLst/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" y="2788920"/>
            <a:ext cx="1380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Alert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3282696"/>
            <a:ext cx="13807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Rapid2 — title, summary, jurisdiction, taxonomy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14016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05456" y="2807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filter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05456" y="330098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· published · latest version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5112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16552" y="2807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330098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regulation library as vectors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6208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27648" y="2807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330098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candidate regulations by similarity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47304" y="2697480"/>
            <a:ext cx="1600200" cy="1371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48472" y="2788920"/>
            <a:ext cx="11978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judge: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confirmed?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0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CE8E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195560" y="28072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CHAIN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195560" y="315468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(RGL)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Summary (RSM)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Obligation (ROB)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093976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2" name="Shape 20"/>
          <p:cNvSpPr/>
          <p:nvPr/>
        </p:nvSpPr>
        <p:spPr>
          <a:xfrm>
            <a:off x="4005072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16168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4" name="Shape 22"/>
          <p:cNvSpPr/>
          <p:nvPr/>
        </p:nvSpPr>
        <p:spPr>
          <a:xfrm>
            <a:off x="7827264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5" name="Shape 23"/>
          <p:cNvSpPr/>
          <p:nvPr/>
        </p:nvSpPr>
        <p:spPr>
          <a:xfrm>
            <a:off x="9738360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55864" y="4114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excluded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5F5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4636008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a risk SME reviews every confirmed link before it is adopted. The LLM records written reasoning for each decision, giving a full audit trail.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998464"/>
            <a:ext cx="219456" cy="182880"/>
          </a:xfrm>
          <a:prstGeom prst="can">
            <a:avLst/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57400" y="5998464"/>
            <a:ext cx="219456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3172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66160" y="5980176"/>
            <a:ext cx="219456" cy="21945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DB001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4048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74920" y="6007608"/>
            <a:ext cx="219456" cy="164592"/>
          </a:xfrm>
          <a:prstGeom prst="roundRect">
            <a:avLst>
              <a:gd name="adj" fmla="val 16667"/>
            </a:avLst>
          </a:prstGeom>
          <a:solidFill>
            <a:srgbClr val="FCE8E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34924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FLOW · 2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Alert to Risks &amp; Controls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697480"/>
            <a:ext cx="1737360" cy="1280160"/>
          </a:xfrm>
          <a:prstGeom prst="can">
            <a:avLst/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" y="278892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RSMs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3282696"/>
            <a:ext cx="15179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flow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06040" y="1737360"/>
            <a:ext cx="2788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697480" y="18470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RegMap candidates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340864"/>
            <a:ext cx="26060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Regulation-driven: RSM → Library Risk, L1 Library Control, L1 Control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3566160"/>
            <a:ext cx="2788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697480" y="36758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 candidates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4169664"/>
            <a:ext cx="26060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Control-driven: alert matched directly to the L1 Control library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06440" y="2697480"/>
            <a:ext cx="1600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897880" y="2807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3300984"/>
            <a:ext cx="14173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candidate set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80960" y="2697480"/>
            <a:ext cx="1600200" cy="128016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882128" y="2788920"/>
            <a:ext cx="119786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link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601200" y="2286000"/>
            <a:ext cx="2057400" cy="2103120"/>
          </a:xfrm>
          <a:prstGeom prst="roundRect">
            <a:avLst>
              <a:gd name="adj" fmla="val 3111"/>
            </a:avLst>
          </a:prstGeom>
          <a:solidFill>
            <a:srgbClr val="FCE8E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738360" y="239572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— REGMAP + HELIOS TOGETHER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738360" y="274320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Risk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Library Controls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Controls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 flipV="1">
            <a:off x="2240280" y="2267712"/>
            <a:ext cx="365760" cy="795528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240280" y="3611880"/>
            <a:ext cx="365760" cy="484632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94960" y="2066544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4" name="Shape 22"/>
          <p:cNvSpPr/>
          <p:nvPr/>
        </p:nvSpPr>
        <p:spPr>
          <a:xfrm>
            <a:off x="5394960" y="3895344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5" name="Shape 23"/>
          <p:cNvSpPr/>
          <p:nvPr/>
        </p:nvSpPr>
        <p:spPr>
          <a:xfrm>
            <a:off x="7406640" y="314553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6" name="Shape 24"/>
          <p:cNvSpPr/>
          <p:nvPr/>
        </p:nvSpPr>
        <p:spPr>
          <a:xfrm>
            <a:off x="9281160" y="314553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68096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 rolls up to L1 Library Control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5F5F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4910328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sources flow into a single recommendation. A control is assessable where RegMap maps it and Helios holds its text — the engine scores every candidate the same way, whichever source surfaced it.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998464"/>
            <a:ext cx="219456" cy="182880"/>
          </a:xfrm>
          <a:prstGeom prst="can">
            <a:avLst/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57400" y="5998464"/>
            <a:ext cx="219456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33172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66160" y="5980176"/>
            <a:ext cx="219456" cy="21945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DB001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84048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74920" y="6007608"/>
            <a:ext cx="219456" cy="164592"/>
          </a:xfrm>
          <a:prstGeom prst="roundRect">
            <a:avLst>
              <a:gd name="adj" fmla="val 16667"/>
            </a:avLst>
          </a:prstGeom>
          <a:solidFill>
            <a:srgbClr val="FCE8E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34924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FLOW · 3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Alert to Policies &amp; Procedures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697480"/>
            <a:ext cx="1600200" cy="1371600"/>
          </a:xfrm>
          <a:prstGeom prst="can">
            <a:avLst/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12648" y="2788920"/>
            <a:ext cx="1380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Alert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3282696"/>
            <a:ext cx="13807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14016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05456" y="2807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obligations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05456" y="330098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obligations the alert affects (flow 1)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5112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416552" y="2807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 shortlist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330098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policies &amp; procedures *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6208" y="2697480"/>
            <a:ext cx="1600200" cy="1371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37376" y="2788920"/>
            <a:ext cx="119786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judge: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confirmed?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47304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38744" y="280720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review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38744" y="3300984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0" y="2697480"/>
            <a:ext cx="1600200" cy="1371600"/>
          </a:xfrm>
          <a:prstGeom prst="roundRect">
            <a:avLst>
              <a:gd name="adj" fmla="val 4667"/>
            </a:avLst>
          </a:prstGeom>
          <a:solidFill>
            <a:srgbClr val="FCE8E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195560" y="2807208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195560" y="315468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Procedures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093976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2" name="Shape 20"/>
          <p:cNvSpPr/>
          <p:nvPr/>
        </p:nvSpPr>
        <p:spPr>
          <a:xfrm>
            <a:off x="4005072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16168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4" name="Shape 22"/>
          <p:cNvSpPr/>
          <p:nvPr/>
        </p:nvSpPr>
        <p:spPr>
          <a:xfrm>
            <a:off x="7827264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5" name="Shape 23"/>
          <p:cNvSpPr/>
          <p:nvPr/>
        </p:nvSpPr>
        <p:spPr>
          <a:xfrm>
            <a:off x="9738360" y="319125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Draft — pending confirmation of the P&amp;P source system and linkage path (via linked obligation vs. direct).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5F5F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5001768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as flows 1–2: embeddings shortlist candidates → LLM judge confirms each link with reasoning → SME review before adoption.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998464"/>
            <a:ext cx="219456" cy="182880"/>
          </a:xfrm>
          <a:prstGeom prst="can">
            <a:avLst/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57400" y="5998464"/>
            <a:ext cx="219456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3172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66160" y="5980176"/>
            <a:ext cx="219456" cy="219456"/>
          </a:xfrm>
          <a:prstGeom prst="diamond">
            <a:avLst/>
          </a:prstGeom>
          <a:solidFill>
            <a:srgbClr val="FFFFFF"/>
          </a:solidFill>
          <a:ln w="12700">
            <a:solidFill>
              <a:srgbClr val="DB001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4048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74920" y="6007608"/>
            <a:ext cx="219456" cy="164592"/>
          </a:xfrm>
          <a:prstGeom prst="roundRect">
            <a:avLst>
              <a:gd name="adj" fmla="val 16667"/>
            </a:avLst>
          </a:prstGeom>
          <a:solidFill>
            <a:srgbClr val="FCE8E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349240" y="59527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build this capability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hexagon">
            <a:avLst/>
          </a:prstGeom>
          <a:solidFill>
            <a:srgbClr val="DB0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385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AI — our live solution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8463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shortlist candidates by meaning</a:t>
            </a:r>
            <a:endParaRPr lang="en-US" sz="1150" dirty="0"/>
          </a:p>
          <a:p>
            <a:pPr marL="342900" indent="-3429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judge confirms each link with written reasoning</a:t>
            </a:r>
            <a:endParaRPr lang="en-US" sz="1150" dirty="0"/>
          </a:p>
          <a:p>
            <a:pPr marL="342900" indent="-3429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SME reviews — human-in-the-loop</a:t>
            </a:r>
            <a:endParaRPr lang="en-US" sz="1150" dirty="0"/>
          </a:p>
          <a:p>
            <a:pPr marL="342900" indent="-3429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today across regulations, obligations, risks, controls and policies</a:t>
            </a:r>
            <a:endParaRPr lang="en-US" sz="1150" dirty="0"/>
          </a:p>
          <a:p>
            <a:pPr marL="342900" indent="-3429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existing stack — no new platform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920240"/>
            <a:ext cx="457200" cy="457200"/>
          </a:xfrm>
          <a:prstGeom prst="hexagon">
            <a:avLst/>
          </a:prstGeom>
          <a:solidFill>
            <a:srgbClr val="1A1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385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+ Graph database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560320"/>
            <a:ext cx="484632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entities &amp; relationships once as an ontology</a:t>
            </a:r>
            <a:endParaRPr lang="en-US" sz="1150" dirty="0"/>
          </a:p>
          <a:p>
            <a:pPr marL="342900" indent="-3429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as a knowledge graph (nodes + edges)</a:t>
            </a:r>
            <a:endParaRPr lang="en-US" sz="1150" dirty="0"/>
          </a:p>
          <a:p>
            <a:pPr marL="342900" indent="-3429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the graph to find linked items — native multi-hop</a:t>
            </a:r>
            <a:endParaRPr lang="en-US" sz="1150" dirty="0"/>
          </a:p>
          <a:p>
            <a:pPr marL="342900" indent="-3429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carries an explicit relationship path</a:t>
            </a:r>
            <a:endParaRPr lang="en-US" sz="1150" dirty="0"/>
          </a:p>
          <a:p>
            <a:pPr marL="342900" indent="-342900">
              <a:lnSpc>
                <a:spcPct val="9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new platform, data engineering and ongoing curation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FCE8E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valid engineering choices. An ontology layer may enhance the solution — it is not a prerequisite. We have a working solution in production today, and can adopt graph techniques where they add the most value.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USED ONTOLOGY + GRAPH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ontology / graph-database design would look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Build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8470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sources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40864"/>
            <a:ext cx="17830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RegMap · Helios · Rapid2 · P&amp;P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17373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926080" y="18470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 &amp; relationships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40864"/>
            <a:ext cx="17830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NLP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0" y="17373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212080" y="18470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knowledge graph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340864"/>
            <a:ext cx="17830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+ edges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06640" y="17373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498080" y="18470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/ query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2340864"/>
            <a:ext cx="17830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optional GNN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92640" y="1737360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784080" y="1847088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784080" y="2340864"/>
            <a:ext cx="178308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explainable paths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05456" y="197967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1" name="Shape 19"/>
          <p:cNvSpPr/>
          <p:nvPr/>
        </p:nvSpPr>
        <p:spPr>
          <a:xfrm>
            <a:off x="4791456" y="197967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2" name="Shape 20"/>
          <p:cNvSpPr/>
          <p:nvPr/>
        </p:nvSpPr>
        <p:spPr>
          <a:xfrm>
            <a:off x="7077456" y="197967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3" name="Shape 21"/>
          <p:cNvSpPr/>
          <p:nvPr/>
        </p:nvSpPr>
        <p:spPr>
          <a:xfrm>
            <a:off x="9363456" y="1979676"/>
            <a:ext cx="329184" cy="384048"/>
          </a:xfrm>
          <a:prstGeom prst="rightArrow">
            <a:avLst/>
          </a:prstGeom>
          <a:solidFill>
            <a:srgbClr val="DB001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Knowledge-graph model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V="1">
            <a:off x="2286000" y="4069080"/>
            <a:ext cx="1399032" cy="73152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286000" y="4800600"/>
            <a:ext cx="1399032" cy="68580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22392" y="4069080"/>
            <a:ext cx="1399032" cy="18288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22392" y="5486400"/>
            <a:ext cx="1399032" cy="18288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8558784" y="3794760"/>
            <a:ext cx="1408176" cy="27432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8558784" y="4846320"/>
            <a:ext cx="1408176" cy="64008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558784" y="5486400"/>
            <a:ext cx="1408176" cy="41148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8640" y="45262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DB0011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594360" y="4526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85032" y="379476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3730752" y="3794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85032" y="52120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3730752" y="5212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21424" y="379476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EFEFEF"/>
          </a:solidFill>
          <a:ln w="15875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867144" y="37947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21424" y="521208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CE8EA"/>
          </a:solidFill>
          <a:ln w="15875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6867144" y="5212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966960" y="35204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EFEFEF"/>
          </a:solidFill>
          <a:ln w="15875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10012680" y="3520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966960" y="457200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CE8EA"/>
          </a:solidFill>
          <a:ln w="15875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10012680" y="4572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Control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966960" y="562356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7A7A7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10012680" y="5623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2363724" y="4334256"/>
            <a:ext cx="1243584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5500116" y="3950208"/>
            <a:ext cx="1243584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5500116" y="5367528"/>
            <a:ext cx="1243584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MITIGATED_BY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8641080" y="3831336"/>
            <a:ext cx="1243584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IMPLEMENTED_BY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8641080" y="5065776"/>
            <a:ext cx="1243584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ROLLS_UP_TO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8641080" y="5591556"/>
            <a:ext cx="1243584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IN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one alert, one traversal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ALERT  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 of medical information in consumer-lending decisions”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48256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RD-00075505   ·   Jurisdiction US   ·   Theme: consumer protection / fair lending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3360420"/>
            <a:ext cx="1234440" cy="18288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74920" y="3360420"/>
            <a:ext cx="1234440" cy="18288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55280" y="3360420"/>
            <a:ext cx="1234440" cy="18288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32320" y="3657600"/>
            <a:ext cx="18288" cy="685800"/>
          </a:xfrm>
          <a:prstGeom prst="line">
            <a:avLst/>
          </a:prstGeom>
          <a:noFill/>
          <a:ln w="19050">
            <a:solidFill>
              <a:srgbClr val="9A9A9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0632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DB0011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" y="3063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30632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1A1A1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474720" y="3063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30632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CE8EA"/>
          </a:solidFill>
          <a:ln w="15875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55080" y="3063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89720" y="30632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CE8EA"/>
          </a:solidFill>
          <a:ln w="15875">
            <a:solidFill>
              <a:srgbClr val="DB0011"/>
            </a:solidFill>
            <a:prstDash val="solid"/>
          </a:ln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35440" y="3063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Control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434340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7A7A7A"/>
          </a:solidFill>
          <a:ln/>
          <a:effectLst>
            <a:outerShdw sx="100000" sy="100000" kx="0" ky="0" algn="bl" rotWithShape="0" blurRad="63500" dist="25400" dir="5400000">
              <a:srgbClr val="9A9A9A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55080" y="4343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189988" y="3259836"/>
            <a:ext cx="1243584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5070348" y="3259836"/>
            <a:ext cx="1243584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MITIGATED_BY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950708" y="3259836"/>
            <a:ext cx="1243584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ROLLS_UP_TO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510528" y="3899916"/>
            <a:ext cx="1243584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1663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(a:Alert {id:'RD-00075505'})-[:IMPACTS]-&gt;(o:Obligation)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-[:MITIGATED_BY]-&gt;(c:Control)-[:ROLLS_UP_TO]-&gt;(lc:LibraryControl)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c, lc, path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traversal walks from the alert to every impacted control and its library control, and returns the exact path as a built-in audit trail — the same recommendations our live solution produces today, plus native multi-hop reasoning and explainability.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recommendation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9664"/>
                <a:gridCol w="4178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AI (live today)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0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Ontology + Graph 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in 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Months — build &amp; curate ontology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reasoning per 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relationship paths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/ unseen links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— semantic similarity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modelled relationships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Multi-hop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Chained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graph traversal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+ data refresh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Ontology curation + graph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graph-DB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CE8E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53949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spc="100" kern="0" dirty="0">
                <a:solidFill>
                  <a:srgbClr val="DB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live solution delivering now. Pilot an ontology / graph layer as an enhancement where multi-hop reasoning and explainable paths add the most value — a hybrid path that protects delivery while capturing the upside.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Senior Management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2026-09-24T14:43:31Z</dcterms:created>
  <dcterms:modified xsi:type="dcterms:W3CDTF">2026-09-24T14:43:31Z</dcterms:modified>
</cp:coreProperties>
</file>