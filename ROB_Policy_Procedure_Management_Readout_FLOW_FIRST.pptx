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5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5720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REGULATORY 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56692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1C1C1C"/>
                </a:solidFill>
                <a:latin typeface="Aptos"/>
              </a:rPr>
              <a:t>ROB → Policy /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0584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Aptos"/>
              </a:rPr>
              <a:t>The full linkage story — from the obligation universe to typed, confidence-graded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01568"/>
            <a:ext cx="10789920" cy="1143000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150876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3,180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054096"/>
            <a:ext cx="1645920" cy="2377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1E1E1"/>
                </a:solidFill>
                <a:latin typeface="Aptos"/>
              </a:rPr>
              <a:t>US obligations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971800"/>
            <a:ext cx="150876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3,710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054096"/>
            <a:ext cx="1645920" cy="2377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1E1E1"/>
                </a:solidFill>
                <a:latin typeface="Aptos"/>
              </a:rPr>
              <a:t>policy 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971800"/>
            <a:ext cx="150876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4,447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054096"/>
            <a:ext cx="1645920" cy="2377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1E1E1"/>
                </a:solidFill>
                <a:latin typeface="Aptos"/>
              </a:rPr>
              <a:t>procedure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Aptos"/>
              </a:rPr>
              <a:t>Management readout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87568"/>
            <a:ext cx="100584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ptos"/>
              </a:rPr>
              <a:t>Population → coverage → relationship → classification →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78608"/>
            <a:ext cx="10789920" cy="65836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679192"/>
            <a:ext cx="105156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200" b="1">
                <a:solidFill>
                  <a:srgbClr val="DB0011"/>
                </a:solidFill>
                <a:latin typeface="Aptos"/>
              </a:rPr>
              <a:t>315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761488"/>
            <a:ext cx="141732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REGULATIONS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60904"/>
            <a:ext cx="41148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679192"/>
            <a:ext cx="132588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Aptos"/>
              </a:rPr>
              <a:t>3,180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761488"/>
            <a:ext cx="141732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OBLIGATIONS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743200"/>
            <a:ext cx="338328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ptos"/>
              </a:rPr>
              <a:t>the starting assessment universe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01 | THE FULL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728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1C1C"/>
                </a:solidFill>
                <a:latin typeface="Aptos"/>
              </a:rPr>
              <a:t>One obligation universe. Two linkage lanes. Five classification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Aptos"/>
              </a:rPr>
              <a:t>Follow the same analytical spine from population to actionable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658368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74320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3,180 US OBLIGATIONS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09344"/>
            <a:ext cx="256032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CDCDC"/>
                </a:solidFill>
                <a:latin typeface="Aptos"/>
              </a:rPr>
              <a:t>100% obligation universe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00400" y="2084831"/>
            <a:ext cx="2880360" cy="402337"/>
          </a:xfrm>
          <a:prstGeom prst="line">
            <a:avLst/>
          </a:prstGeom>
          <a:ln w="2540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084831"/>
            <a:ext cx="2880360" cy="402337"/>
          </a:xfrm>
          <a:prstGeom prst="line">
            <a:avLst/>
          </a:prstGeom>
          <a:ln w="2540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2505456"/>
            <a:ext cx="5394960" cy="438912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539496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ROB →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505456"/>
            <a:ext cx="5394960" cy="438912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596896"/>
            <a:ext cx="539496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ROB → PROCEDURE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DB0011"/>
                </a:solidFill>
                <a:latin typeface="Aptos"/>
              </a:rPr>
              <a:t>282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policies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64792" y="3621024"/>
            <a:ext cx="182880" cy="0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47672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4248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DB0011"/>
                </a:solidFill>
                <a:latin typeface="Aptos"/>
              </a:rPr>
              <a:t>61,962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candidates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18104" y="3621024"/>
            <a:ext cx="182880" cy="0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00984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DB0011"/>
                </a:solidFill>
                <a:latin typeface="Aptos"/>
              </a:rPr>
              <a:t>3,710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links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71416" y="3621024"/>
            <a:ext cx="182880" cy="0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654296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DB0011"/>
                </a:solidFill>
                <a:latin typeface="Aptos"/>
              </a:rPr>
              <a:t>1,402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linked ROBs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61104"/>
            <a:ext cx="539496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DB0011"/>
                </a:solidFill>
                <a:latin typeface="Aptos"/>
              </a:rPr>
              <a:t>1,778 ROBs have NO policy link • 56%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8776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1C1C1C"/>
                </a:solidFill>
                <a:latin typeface="Aptos"/>
              </a:rPr>
              <a:t>1,180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8776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procedures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42631" y="3621024"/>
            <a:ext cx="182881" cy="0"/>
          </a:xfrm>
          <a:prstGeom prst="line">
            <a:avLst/>
          </a:prstGeom>
          <a:ln w="2032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525512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2088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1C1C1C"/>
                </a:solidFill>
                <a:latin typeface="Aptos"/>
              </a:rPr>
              <a:t>172,008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2088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candidates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95944" y="3621024"/>
            <a:ext cx="182880" cy="0"/>
          </a:xfrm>
          <a:prstGeom prst="line">
            <a:avLst/>
          </a:prstGeom>
          <a:ln w="2032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878824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1C1C1C"/>
                </a:solidFill>
                <a:latin typeface="Aptos"/>
              </a:rPr>
              <a:t>4,447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links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049256" y="3621024"/>
            <a:ext cx="182880" cy="0"/>
          </a:xfrm>
          <a:prstGeom prst="line">
            <a:avLst/>
          </a:prstGeom>
          <a:ln w="2032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232136" y="3200400"/>
            <a:ext cx="117043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68711" y="3310128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1C1C1C"/>
                </a:solidFill>
                <a:latin typeface="Aptos"/>
              </a:rPr>
              <a:t>1,042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68711" y="365760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4B4B4B"/>
                </a:solidFill>
                <a:latin typeface="Aptos"/>
              </a:rPr>
              <a:t>linked ROBs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261104"/>
            <a:ext cx="539496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2,138 ROBs have NO procedure link • 67%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846320"/>
            <a:ext cx="1097280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010912"/>
            <a:ext cx="91440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EVERY LINK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4956048"/>
            <a:ext cx="166420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5074920"/>
            <a:ext cx="1572768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C1C1C"/>
                </a:solidFill>
                <a:latin typeface="Aptos"/>
              </a:rPr>
              <a:t>1 Atlas relationship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5887" y="4956048"/>
            <a:ext cx="166420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21607" y="5074920"/>
            <a:ext cx="1572768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C1C1C"/>
                </a:solidFill>
                <a:latin typeface="Aptos"/>
              </a:rPr>
              <a:t>2 Detailed type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22976" y="4956048"/>
            <a:ext cx="166420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68696" y="5074920"/>
            <a:ext cx="1572768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C1C1C"/>
                </a:solidFill>
                <a:latin typeface="Aptos"/>
              </a:rPr>
              <a:t>3 Confidence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70064" y="4956048"/>
            <a:ext cx="166420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15784" y="5074920"/>
            <a:ext cx="1572768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C1C1C"/>
                </a:solidFill>
                <a:latin typeface="Aptos"/>
              </a:rPr>
              <a:t>4 Coverage extent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17152" y="4956048"/>
            <a:ext cx="1664208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62872" y="5074920"/>
            <a:ext cx="1572768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C1C1C"/>
                </a:solidFill>
                <a:latin typeface="Aptos"/>
              </a:rPr>
              <a:t>5 Gap category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0" y="6144768"/>
            <a:ext cx="859536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6E6E6E"/>
                </a:solidFill>
                <a:latin typeface="Aptos"/>
              </a:rPr>
              <a:t>The same classification spine is applied independently to policy and procedure edges.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1353312"/>
            <a:ext cx="10972800" cy="7498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1490472"/>
            <a:ext cx="1051560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200" b="1">
                <a:solidFill>
                  <a:srgbClr val="DB0011"/>
                </a:solidFill>
                <a:latin typeface="Aptos"/>
              </a:rPr>
              <a:t>315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1554480"/>
            <a:ext cx="132588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REGULATIONS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01568" y="1472184"/>
            <a:ext cx="384048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13632" y="1490472"/>
            <a:ext cx="1234440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Aptos"/>
              </a:rPr>
              <a:t>3,180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47488" y="1554480"/>
            <a:ext cx="132588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OBLIGATIONS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1554480"/>
            <a:ext cx="361188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ptos"/>
              </a:rPr>
              <a:t>Regulation universe → obligation universe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4360" y="2084831"/>
            <a:ext cx="10972800" cy="91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94360" y="2103120"/>
            <a:ext cx="10972800" cy="658368"/>
          </a:xfrm>
          <a:prstGeom prst="roundRect">
            <a:avLst>
              <a:gd name="adj" fmla="val 7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2267712"/>
            <a:ext cx="292608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3,180 US OBLIGATIONS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2313432"/>
            <a:ext cx="2514600" cy="1828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0">
                <a:solidFill>
                  <a:srgbClr val="DCDCDC"/>
                </a:solidFill>
                <a:latin typeface="Aptos"/>
              </a:rPr>
              <a:t>100% obligation universe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1188720"/>
            <a:ext cx="1508760" cy="1828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315 regulations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12848" y="1152144"/>
            <a:ext cx="320040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78608" y="1188720"/>
            <a:ext cx="1691640" cy="1828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Aptos"/>
              </a:rPr>
              <a:t>3,180 obligations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02 |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728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1C1C"/>
                </a:solidFill>
                <a:latin typeface="Aptos"/>
              </a:rPr>
              <a:t>Policy linkage starts with coverage — 44% of obligations have at least one policy relationship.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Aptos"/>
              </a:rPr>
              <a:t>3,180 obligations → 1,402 linked obligations → 3,710 edges → 64 distinct policies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749808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371600" cy="32918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3,180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82496"/>
            <a:ext cx="22860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ALL US OBLIGATIONS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212848"/>
            <a:ext cx="0" cy="301752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2514600"/>
            <a:ext cx="8138160" cy="749808"/>
          </a:xfrm>
          <a:prstGeom prst="roundRect">
            <a:avLst/>
          </a:prstGeom>
          <a:solidFill>
            <a:srgbClr val="FDF0F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670048"/>
            <a:ext cx="1280160" cy="32918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1,402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72491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OBLIGATIONS WITH ≥1 POLICY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715768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DB0011"/>
                </a:solidFill>
                <a:latin typeface="Aptos"/>
              </a:rPr>
              <a:t>44%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02736"/>
            <a:ext cx="100584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C1C1C"/>
                </a:solidFill>
                <a:latin typeface="Aptos"/>
              </a:rPr>
              <a:t>1,778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639312"/>
            <a:ext cx="18288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B4B4B"/>
                </a:solidFill>
                <a:latin typeface="Aptos"/>
              </a:rPr>
              <a:t>NO POLICY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639312"/>
            <a:ext cx="5943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DB0011"/>
                </a:solidFill>
                <a:latin typeface="Aptos"/>
              </a:rPr>
              <a:t>56%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74720"/>
            <a:ext cx="5394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602736"/>
            <a:ext cx="100584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DB0011"/>
                </a:solidFill>
                <a:latin typeface="Aptos"/>
              </a:rPr>
              <a:t>3,710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639312"/>
            <a:ext cx="192024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B4B4B"/>
                </a:solidFill>
                <a:latin typeface="Aptos"/>
              </a:rPr>
              <a:t>TOTAL POLICY 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3639312"/>
            <a:ext cx="9144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DB0011"/>
                </a:solidFill>
                <a:latin typeface="Aptos"/>
              </a:rPr>
              <a:t>64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62272"/>
            <a:ext cx="45720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THE 3,710 EDGES → FIVE CLASSIFICATION LAYERS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00600"/>
            <a:ext cx="2029968" cy="1463040"/>
          </a:xfrm>
          <a:prstGeom prst="roundRect">
            <a:avLst/>
          </a:prstGeom>
          <a:solidFill>
            <a:srgbClr val="FDF0F1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DB0011"/>
                </a:solidFill>
                <a:latin typeface="Aptos"/>
              </a:rPr>
              <a:t>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0" b="0">
                <a:solidFill>
                  <a:srgbClr val="4B4B4B"/>
                </a:solidFill>
                <a:latin typeface="Aptos"/>
              </a:rPr>
              <a:t>3,458 supports
252 applies 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DETAIL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0" b="0">
                <a:solidFill>
                  <a:srgbClr val="4B4B4B"/>
                </a:solidFill>
                <a:latin typeface="Aptos"/>
              </a:rPr>
              <a:t>1,520 substantial
1,116 partial
754 minimal
252 related
68 full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5776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0" b="0">
                <a:solidFill>
                  <a:srgbClr val="4B4B4B"/>
                </a:solidFill>
                <a:latin typeface="Aptos"/>
              </a:rPr>
              <a:t>1,588 HIGH
1,116 MEDIUM
754 LOW
252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8624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1775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5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0" b="0">
                <a:solidFill>
                  <a:srgbClr val="4B4B4B"/>
                </a:solidFill>
                <a:latin typeface="Aptos"/>
              </a:rPr>
              <a:t>1,657 MOSTLY
1,207 SUBSTANTIAL
846 MINIMAL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1472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4624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0" b="0">
                <a:solidFill>
                  <a:srgbClr val="4B4B4B"/>
                </a:solidFill>
                <a:latin typeface="Aptos"/>
              </a:rPr>
              <a:t>1,051 process
772 scope
732 control
302 documentation
266 timing
251 other
16 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197864"/>
            <a:ext cx="5029200" cy="1828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Starting universe: 315 regulations → 3,180 US obligations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03 | POLICY —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728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1C1C"/>
                </a:solidFill>
                <a:latin typeface="Aptos"/>
              </a:rPr>
              <a:t>Every policy edge is preserved, then progressively qualified.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Aptos"/>
              </a:rPr>
              <a:t>Atlas vocabulary → detailed relationship → confidence → coverage extent → residual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20574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2057400" cy="502920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664208"/>
            <a:ext cx="1947672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01  ATLAS RELATIONSHIP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1837943" cy="3246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19" b="0">
                <a:solidFill>
                  <a:srgbClr val="4B4B4B"/>
                </a:solidFill>
                <a:latin typeface="Aptos"/>
              </a:rPr>
              <a:t>SUPPORTS  3,458  | 93.2%
APPLIES TO  252  | 6.8%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572768"/>
            <a:ext cx="20574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2928" y="1572768"/>
            <a:ext cx="2057400" cy="502920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664208"/>
            <a:ext cx="1947672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02  DETAILED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267712"/>
            <a:ext cx="1837943" cy="3246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19" b="0">
                <a:solidFill>
                  <a:srgbClr val="4B4B4B"/>
                </a:solidFill>
                <a:latin typeface="Aptos"/>
              </a:rPr>
              <a:t>SUBSTANTIALLY  1,520
PARTIALLY  1,116
MINIMALLY  754
RELATED  252
FULLY  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572768"/>
            <a:ext cx="20574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11496" y="1572768"/>
            <a:ext cx="2057400" cy="502920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664208"/>
            <a:ext cx="1947672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03 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267712"/>
            <a:ext cx="1837943" cy="3246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19" b="0">
                <a:solidFill>
                  <a:srgbClr val="4B4B4B"/>
                </a:solidFill>
                <a:latin typeface="Aptos"/>
              </a:rPr>
              <a:t>HIGH  1,588 | 42.8%
MEDIUM 1,116 | 30.1%
LOW 754 | 20.3%
CONTEXT 252 | 6.8%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0064" y="1572768"/>
            <a:ext cx="20574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0064" y="1572768"/>
            <a:ext cx="2057400" cy="502920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1664208"/>
            <a:ext cx="1947672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04  COVERAGE EXTENT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267712"/>
            <a:ext cx="1837943" cy="3246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19" b="0">
                <a:solidFill>
                  <a:srgbClr val="4B4B4B"/>
                </a:solidFill>
                <a:latin typeface="Aptos"/>
              </a:rPr>
              <a:t>MOSTLY 1,657 | 44.7%
SUBSTANTIAL 1,207 | 32.5%
MINIMAL 846 | 22.8%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28632" y="1572768"/>
            <a:ext cx="20574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28632" y="1572768"/>
            <a:ext cx="2057400" cy="502920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1664208"/>
            <a:ext cx="1947672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05  GAP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267712"/>
            <a:ext cx="1837943" cy="3246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19" b="0">
                <a:solidFill>
                  <a:srgbClr val="4B4B4B"/>
                </a:solidFill>
                <a:latin typeface="Aptos"/>
              </a:rPr>
              <a:t>PROCESS STEP 1,051 | 31.0%
SCOPE 772 | 22.8%
CONTROL 732 | 21.6%
DOCUMENTATION 302 | 8.9%
TIMING 266 | 7.8%
OTHER 251 | 7.4%
ROLE 16 | 0.5%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881360" cy="384048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080760"/>
            <a:ext cx="10515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Policy read: the Atlas layer is overwhelmingly SUPPORTS; the downstream layers tell us strength, trust and residual gap.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04 |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728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1C1C"/>
                </a:solidFill>
                <a:latin typeface="Aptos"/>
              </a:rPr>
              <a:t>Procedure linkage reaches 33% of obligations — leaving a larger no-link population.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Aptos"/>
              </a:rPr>
              <a:t>3,180 obligations → 1,042 linked obligations → 4,447 edges → 186 distinct procedures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749808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371600" cy="32918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3,180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82496"/>
            <a:ext cx="22860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ALL US OBLIGATIONS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212848"/>
            <a:ext cx="0" cy="301752"/>
          </a:xfrm>
          <a:prstGeom prst="line">
            <a:avLst/>
          </a:prstGeom>
          <a:ln w="254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2514600"/>
            <a:ext cx="8138160" cy="749808"/>
          </a:xfrm>
          <a:prstGeom prst="roundRect">
            <a:avLst/>
          </a:prstGeom>
          <a:solidFill>
            <a:srgbClr val="F7F7F7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670048"/>
            <a:ext cx="1280160" cy="32918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C1C1C"/>
                </a:solidFill>
                <a:latin typeface="Aptos"/>
              </a:rPr>
              <a:t>1,042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72491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OBLIGATIONS WITH ≥1 PROCEDURE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715768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1C1C1C"/>
                </a:solidFill>
                <a:latin typeface="Aptos"/>
              </a:rPr>
              <a:t>33%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02736"/>
            <a:ext cx="100584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C1C1C"/>
                </a:solidFill>
                <a:latin typeface="Aptos"/>
              </a:rPr>
              <a:t>2,138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639312"/>
            <a:ext cx="18288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B4B4B"/>
                </a:solidFill>
                <a:latin typeface="Aptos"/>
              </a:rPr>
              <a:t>NO PROCEDURE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639312"/>
            <a:ext cx="5943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1C1C1C"/>
                </a:solidFill>
                <a:latin typeface="Aptos"/>
              </a:rPr>
              <a:t>67%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74720"/>
            <a:ext cx="5394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602736"/>
            <a:ext cx="100584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C1C1C"/>
                </a:solidFill>
                <a:latin typeface="Aptos"/>
              </a:rPr>
              <a:t>4,447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639312"/>
            <a:ext cx="20116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B4B4B"/>
                </a:solidFill>
                <a:latin typeface="Aptos"/>
              </a:rPr>
              <a:t>TOTAL PROCEDURE 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639312"/>
            <a:ext cx="123444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1C1C1C"/>
                </a:solidFill>
                <a:latin typeface="Aptos"/>
              </a:rPr>
              <a:t>186 procedures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62272"/>
            <a:ext cx="45720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THE 4,447 EDGES → FIVE CLASSIFICATION LAYERS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4B4B4B"/>
                </a:solidFill>
                <a:latin typeface="Aptos"/>
              </a:rPr>
              <a:t>4,021 supports
425 applies to
1 not applicable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DETAIL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4B4B4B"/>
                </a:solidFill>
                <a:latin typeface="Aptos"/>
              </a:rPr>
              <a:t>1,885 partial
1,267 substantial
851 minimal
421 related
18 full
4 tangential
1 no relation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5776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4B4B4B"/>
                </a:solidFill>
                <a:latin typeface="Aptos"/>
              </a:rPr>
              <a:t>1,885 MEDIUM
1,285 HIGH
851 LOW
426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8624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1775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5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4B4B4B"/>
                </a:solidFill>
                <a:latin typeface="Aptos"/>
              </a:rPr>
              <a:t>1,885 SUBSTANTIAL
1,267 MOSTLY
851 MINIMAL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1472" y="4800600"/>
            <a:ext cx="2029968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4624" y="4919472"/>
            <a:ext cx="1874519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Aptos"/>
              </a:rPr>
              <a:t>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5193792"/>
            <a:ext cx="1874519" cy="9326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4B4B4B"/>
                </a:solidFill>
                <a:latin typeface="Aptos"/>
              </a:rPr>
              <a:t>1,313 scope
977 control
855 process
367 other
340 documentation
122 timing
29 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197864"/>
            <a:ext cx="5029200" cy="1828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Starting universe: 315 regulations → 3,180 US obligations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05 | PROCEDURE — ACTION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728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1C1C"/>
                </a:solidFill>
                <a:latin typeface="Aptos"/>
              </a:rPr>
              <a:t>The procedure lane makes the residual gap operational.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Aptos"/>
              </a:rPr>
              <a:t>Coverage extent answers HOW MUCH is covered; gap category answers WHAT remains to be addressed.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20040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Aptos"/>
              </a:rPr>
              <a:t>COVERAGE EXTENT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331720"/>
            <a:ext cx="3154680" cy="804672"/>
          </a:xfrm>
          <a:prstGeom prst="roundRect">
            <a:avLst/>
          </a:prstGeom>
          <a:solidFill>
            <a:srgbClr val="F7F7F7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32303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SUBSTANTIAL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04872"/>
            <a:ext cx="658368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800" b="1">
                <a:solidFill>
                  <a:srgbClr val="1C1C1C"/>
                </a:solidFill>
                <a:latin typeface="Aptos"/>
              </a:rPr>
              <a:t>1,885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41448"/>
            <a:ext cx="749808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4B4B4B"/>
                </a:solidFill>
                <a:latin typeface="Aptos"/>
              </a:rPr>
              <a:t>47.1%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79776"/>
            <a:ext cx="25603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ptos"/>
              </a:rPr>
              <a:t>score 6–7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410711"/>
            <a:ext cx="3154680" cy="804672"/>
          </a:xfrm>
          <a:prstGeom prst="roundRect">
            <a:avLst/>
          </a:prstGeom>
          <a:solidFill>
            <a:srgbClr val="F7F7F7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11295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MOSTLY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483863"/>
            <a:ext cx="658368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800" b="1">
                <a:solidFill>
                  <a:srgbClr val="1C1C1C"/>
                </a:solidFill>
                <a:latin typeface="Aptos"/>
              </a:rPr>
              <a:t>1,267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520439"/>
            <a:ext cx="749808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4B4B4B"/>
                </a:solidFill>
                <a:latin typeface="Aptos"/>
              </a:rPr>
              <a:t>31.7%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858768"/>
            <a:ext cx="25603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ptos"/>
              </a:rPr>
              <a:t>score 8–10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489704"/>
            <a:ext cx="3154680" cy="804672"/>
          </a:xfrm>
          <a:prstGeom prst="roundRect">
            <a:avLst/>
          </a:prstGeom>
          <a:solidFill>
            <a:srgbClr val="FDF0F1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590288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MINIMAL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62856"/>
            <a:ext cx="658368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800" b="1">
                <a:solidFill>
                  <a:srgbClr val="DB0011"/>
                </a:solidFill>
                <a:latin typeface="Aptos"/>
              </a:rPr>
              <a:t>851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599432"/>
            <a:ext cx="749808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4B4B4B"/>
                </a:solidFill>
                <a:latin typeface="Aptos"/>
              </a:rPr>
              <a:t>21.3%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937760"/>
            <a:ext cx="25603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ptos"/>
              </a:rPr>
              <a:t>score &lt;6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1508760"/>
            <a:ext cx="6995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737360"/>
            <a:ext cx="649224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Aptos"/>
              </a:rPr>
              <a:t>GAP CATEGORY — THE ACTION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267712"/>
            <a:ext cx="278892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MISSING_SCOPE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267712"/>
            <a:ext cx="685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C1C1C"/>
                </a:solidFill>
                <a:latin typeface="Aptos"/>
              </a:rPr>
              <a:t>1,313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2267712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E6E6E"/>
                </a:solidFill>
                <a:latin typeface="Aptos"/>
              </a:rPr>
              <a:t>32.8%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752344"/>
            <a:ext cx="278892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MISSING_CONTROL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752344"/>
            <a:ext cx="685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C1C1C"/>
                </a:solidFill>
                <a:latin typeface="Aptos"/>
              </a:rPr>
              <a:t>977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1632" y="2752344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E6E6E"/>
                </a:solidFill>
                <a:latin typeface="Aptos"/>
              </a:rPr>
              <a:t>24.4%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236976"/>
            <a:ext cx="278892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MISSING_PROCESS_STEP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236976"/>
            <a:ext cx="685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C1C1C"/>
                </a:solidFill>
                <a:latin typeface="Aptos"/>
              </a:rPr>
              <a:t>855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3236976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E6E6E"/>
                </a:solidFill>
                <a:latin typeface="Aptos"/>
              </a:rPr>
              <a:t>21.4%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721608"/>
            <a:ext cx="278892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OTHER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721608"/>
            <a:ext cx="685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C1C1C"/>
                </a:solidFill>
                <a:latin typeface="Aptos"/>
              </a:rPr>
              <a:t>367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1632" y="3721608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E6E6E"/>
                </a:solidFill>
                <a:latin typeface="Aptos"/>
              </a:rPr>
              <a:t>9.2%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206240"/>
            <a:ext cx="278892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MISSING_DOCUMENTATION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206240"/>
            <a:ext cx="685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C1C1C"/>
                </a:solidFill>
                <a:latin typeface="Aptos"/>
              </a:rPr>
              <a:t>340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71632" y="4206240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E6E6E"/>
                </a:solidFill>
                <a:latin typeface="Aptos"/>
              </a:rPr>
              <a:t>8.5%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4690872"/>
            <a:ext cx="278892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MISSING_TIMING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690872"/>
            <a:ext cx="685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C1C1C"/>
                </a:solidFill>
                <a:latin typeface="Aptos"/>
              </a:rPr>
              <a:t>122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4690872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E6E6E"/>
                </a:solidFill>
                <a:latin typeface="Aptos"/>
              </a:rPr>
              <a:t>3.0%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5175504"/>
            <a:ext cx="278892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MISSING_ROLE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175504"/>
            <a:ext cx="685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C1C1C"/>
                </a:solidFill>
                <a:latin typeface="Aptos"/>
              </a:rPr>
              <a:t>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1632" y="5175504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E6E6E"/>
                </a:solidFill>
                <a:latin typeface="Aptos"/>
              </a:rPr>
              <a:t>0.7%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6236208"/>
            <a:ext cx="10908792" cy="365760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318504"/>
            <a:ext cx="10515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Procedure read: SCOPE is the largest residual gap, followed by CONTROL and PROCESS STEP.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06 |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728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1C1C"/>
                </a:solidFill>
                <a:latin typeface="Aptos"/>
              </a:rPr>
              <a:t>Same analytical spine. Different coverage footprint.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Aptos"/>
              </a:rPr>
              <a:t>Policy and procedure remain independent artefact populations; the comparison is about the shape of the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554480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80" b="1">
                <a:solidFill>
                  <a:srgbClr val="DB0011"/>
                </a:solidFill>
                <a:latin typeface="Aptos"/>
              </a:rPr>
              <a:t>POLICY LINKED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233172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B0011"/>
                </a:solidFill>
                <a:latin typeface="Aptos"/>
              </a:rPr>
              <a:t>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221992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Aptos"/>
              </a:rPr>
              <a:t>1,402 ROBs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80" b="1">
                <a:solidFill>
                  <a:srgbClr val="1C1C1C"/>
                </a:solidFill>
                <a:latin typeface="Aptos"/>
              </a:rPr>
              <a:t>PROCEDURE LINKED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10512"/>
            <a:ext cx="233172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1C1C1C"/>
                </a:solidFill>
                <a:latin typeface="Aptos"/>
              </a:rPr>
              <a:t>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21992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Aptos"/>
              </a:rPr>
              <a:t>1,042 ROBs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80" b="1">
                <a:solidFill>
                  <a:srgbClr val="DB0011"/>
                </a:solidFill>
                <a:latin typeface="Aptos"/>
              </a:rPr>
              <a:t>NO POLICY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10512"/>
            <a:ext cx="233172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B0011"/>
                </a:solidFill>
                <a:latin typeface="Aptos"/>
              </a:rPr>
              <a:t>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21992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Aptos"/>
              </a:rPr>
              <a:t>1,778 ROBs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4173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554480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80" b="1">
                <a:solidFill>
                  <a:srgbClr val="1C1C1C"/>
                </a:solidFill>
                <a:latin typeface="Aptos"/>
              </a:rPr>
              <a:t>NO PROCEDURE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810512"/>
            <a:ext cx="233172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1C1C1C"/>
                </a:solidFill>
                <a:latin typeface="Aptos"/>
              </a:rPr>
              <a:t>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221992"/>
            <a:ext cx="23317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Aptos"/>
              </a:rPr>
              <a:t>2,138 ROBs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71800"/>
            <a:ext cx="10881360" cy="2487168"/>
          </a:xfrm>
          <a:prstGeom prst="roundRect">
            <a:avLst/>
          </a:prstGeom>
          <a:solidFill>
            <a:srgbClr val="F7F7F7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18688"/>
            <a:ext cx="201168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COMMON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03320"/>
            <a:ext cx="9144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B4B4B"/>
                </a:solidFill>
                <a:latin typeface="Aptos"/>
              </a:rPr>
              <a:t>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685032"/>
            <a:ext cx="338328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SUPPORTS dominates both lanes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9144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B4B4B"/>
                </a:solidFill>
                <a:latin typeface="Aptos"/>
              </a:rPr>
              <a:t>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42232"/>
            <a:ext cx="48463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Partial / substantial / minimal are the meaningful governance bands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9144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B4B4B"/>
                </a:solidFill>
                <a:latin typeface="Aptos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599432"/>
            <a:ext cx="566928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Coverage + gap category converts relationship evidence into reviewable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246120"/>
            <a:ext cx="9144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227832"/>
            <a:ext cx="150876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93.2% supports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767328"/>
            <a:ext cx="9144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PROCEDURE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749039"/>
            <a:ext cx="150876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Aptos"/>
              </a:rPr>
              <a:t>90.4% supports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15968"/>
            <a:ext cx="4069080" cy="5029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B0011"/>
                </a:solidFill>
                <a:latin typeface="Aptos"/>
              </a:rPr>
              <a:t>Procedure additionally exposes 2,138 obligations with no procedure link.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07 |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7280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C1C1C"/>
                </a:solidFill>
                <a:latin typeface="Aptos"/>
              </a:rPr>
              <a:t>The output is a structured governance map — not a binary similarity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Aptos"/>
              </a:rPr>
              <a:t>Each relationship carries progressively richer semantics, so downstream consumers can decide how to use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508760" cy="603504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45336"/>
            <a:ext cx="1453896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POPULATION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90472"/>
            <a:ext cx="3749039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Aptos"/>
              </a:rPr>
              <a:t>3,180 ROBs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90472"/>
            <a:ext cx="457200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4B4B4B"/>
                </a:solidFill>
                <a:latin typeface="Aptos"/>
              </a:rPr>
              <a:t>the assessment universe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13432"/>
            <a:ext cx="1508760" cy="603504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41448"/>
            <a:ext cx="1453896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86584"/>
            <a:ext cx="3749039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Aptos"/>
              </a:rPr>
              <a:t>44% policy / 33% procedure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86584"/>
            <a:ext cx="457200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4B4B4B"/>
                </a:solidFill>
                <a:latin typeface="Aptos"/>
              </a:rPr>
              <a:t>where at least one relationship exists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9544"/>
            <a:ext cx="1508760" cy="603504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37560"/>
            <a:ext cx="1453896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82696"/>
            <a:ext cx="3749039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Aptos"/>
              </a:rPr>
              <a:t>supports / applies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82696"/>
            <a:ext cx="457200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4B4B4B"/>
                </a:solidFill>
                <a:latin typeface="Aptos"/>
              </a:rPr>
              <a:t>Atlas-compatible semantics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05656"/>
            <a:ext cx="1508760" cy="603504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233672"/>
            <a:ext cx="1453896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GRANULARITY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178808"/>
            <a:ext cx="3749039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Aptos"/>
              </a:rPr>
              <a:t>full → substantial → partial → minimal /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78808"/>
            <a:ext cx="457200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4B4B4B"/>
                </a:solidFill>
                <a:latin typeface="Aptos"/>
              </a:rPr>
              <a:t>strength is retained, not flattened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01768"/>
            <a:ext cx="1508760" cy="603504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129783"/>
            <a:ext cx="1453896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074920"/>
            <a:ext cx="3749039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Aptos"/>
              </a:rPr>
              <a:t>coverage + gap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74920"/>
            <a:ext cx="457200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4B4B4B"/>
                </a:solidFill>
                <a:latin typeface="Aptos"/>
              </a:rPr>
              <a:t>partial governance becomes a review route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144768"/>
            <a:ext cx="10789920" cy="384048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227064"/>
            <a:ext cx="104241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NEXT DISCUSSION: how these typed ROB → Policy / Procedure relationships are consumed in the wider graph.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6E6E6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2011680" cy="201168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01 | MASTER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47472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2200" b="1">
                <a:solidFill>
                  <a:srgbClr val="191919"/>
                </a:solidFill>
                <a:latin typeface="Aptos"/>
              </a:rPr>
              <a:t>From Regulations → Obligations → Linkage → Actionable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32104"/>
            <a:ext cx="7315200" cy="201168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One visual spine for the entire management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475488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179576"/>
            <a:ext cx="3566160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315 REGULATIONS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572768"/>
            <a:ext cx="0" cy="201168"/>
          </a:xfrm>
          <a:prstGeom prst="line">
            <a:avLst/>
          </a:prstGeom>
          <a:ln w="254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94760" y="1773936"/>
            <a:ext cx="4572000" cy="502920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883664"/>
            <a:ext cx="4572000" cy="22860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1700" b="1">
                <a:solidFill>
                  <a:srgbClr val="191919"/>
                </a:solidFill>
                <a:latin typeface="Aptos"/>
              </a:rPr>
              <a:t>3,180 OBLIGATIONS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39696"/>
            <a:ext cx="4572000" cy="13716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750" b="0">
                <a:solidFill>
                  <a:srgbClr val="696969"/>
                </a:solidFill>
                <a:latin typeface="Aptos"/>
              </a:rPr>
              <a:t>assessment universe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063240" y="2276856"/>
            <a:ext cx="3017520" cy="310896"/>
          </a:xfrm>
          <a:prstGeom prst="line">
            <a:avLst/>
          </a:prstGeom>
          <a:ln w="254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276856"/>
            <a:ext cx="3017520" cy="310896"/>
          </a:xfrm>
          <a:prstGeom prst="line">
            <a:avLst/>
          </a:prstGeom>
          <a:ln w="254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2587752"/>
            <a:ext cx="5074920" cy="411480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79192"/>
            <a:ext cx="5074920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ROB →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1112" y="2587752"/>
            <a:ext cx="5074920" cy="411480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2679192"/>
            <a:ext cx="5074920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ROB → PROCEDURE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54680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9544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DB0011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200400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465576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19" b="0">
                <a:solidFill>
                  <a:srgbClr val="414141"/>
                </a:solidFill>
                <a:latin typeface="Aptos"/>
              </a:rPr>
              <a:t>61,962 candidate pairs  •  282 policies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21024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DEF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75887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DB0011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666744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LINKS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3931920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19" b="0">
                <a:solidFill>
                  <a:srgbClr val="414141"/>
                </a:solidFill>
                <a:latin typeface="Aptos"/>
              </a:rPr>
              <a:t>3,710 linked edges  •  1,402 ROBs  •  64 policies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87368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42231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133087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ATLAS RELATIONSHIP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4398264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70" b="0">
                <a:solidFill>
                  <a:srgbClr val="414141"/>
                </a:solidFill>
                <a:latin typeface="Aptos"/>
              </a:rPr>
              <a:t>3,458 SUPPORTS (93.2%)  •  252 APPLIES TO (6.8%)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53712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08576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4599432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DETAILED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4864608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10" b="0">
                <a:solidFill>
                  <a:srgbClr val="414141"/>
                </a:solidFill>
                <a:latin typeface="Aptos"/>
              </a:rPr>
              <a:t>68 FULL  •  1,520 SUBSTANTIAL  •  1,116 PARTIAL  •  754 MINIMAL  •  252 RELATED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020056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074920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5065776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5330952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70" b="0">
                <a:solidFill>
                  <a:srgbClr val="414141"/>
                </a:solidFill>
                <a:latin typeface="Aptos"/>
              </a:rPr>
              <a:t>1,588 HIGH  •  1,116 MEDIUM  •  754 LOW  •  252 CONTEXT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486400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DEF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41264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DB0011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5532120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COVERAGE →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5797296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00" b="0">
                <a:solidFill>
                  <a:srgbClr val="414141"/>
                </a:solidFill>
                <a:latin typeface="Aptos"/>
              </a:rPr>
              <a:t>1,657 MOSTLY  •  1,207 SUBSTANTIAL  •  846 MINIMAL   |   Gap: PROCESS 1,051 • SCOPE 772 • CONTROL 732 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11112" y="3154680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3209544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0024" y="3200400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CANDIDATES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4264" y="3465576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19" b="0">
                <a:solidFill>
                  <a:srgbClr val="414141"/>
                </a:solidFill>
                <a:latin typeface="Aptos"/>
              </a:rPr>
              <a:t>172,008 candidate pairs  •  1,180 procedures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11112" y="3621024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3675887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0024" y="3666744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LINKS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4264" y="3931920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19" b="0">
                <a:solidFill>
                  <a:srgbClr val="414141"/>
                </a:solidFill>
                <a:latin typeface="Aptos"/>
              </a:rPr>
              <a:t>4,447 linked edges  •  1,042 ROBs  •  186 procedures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11112" y="4087368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142231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24" y="4133087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ATLAS RELATIONSHIP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84264" y="4398264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50" b="0">
                <a:solidFill>
                  <a:srgbClr val="414141"/>
                </a:solidFill>
                <a:latin typeface="Aptos"/>
              </a:rPr>
              <a:t>4,021 SUPPORTS (90.4%)  •  425 APPLIES TO (9.6%)  •  1 N/A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11112" y="4553712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4608576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24" y="4599432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DETAILED 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84264" y="4864608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20" b="0">
                <a:solidFill>
                  <a:srgbClr val="414141"/>
                </a:solidFill>
                <a:latin typeface="Aptos"/>
              </a:rPr>
              <a:t>1,885 PARTIAL  •  1,267 SUBSTANTIAL  •  851 MINIMAL  •  421 RELATED  •  18 FULL +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11112" y="5020056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5074920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0024" y="5065776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CONFIDENCE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84264" y="5330952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70" b="0">
                <a:solidFill>
                  <a:srgbClr val="414141"/>
                </a:solidFill>
                <a:latin typeface="Aptos"/>
              </a:rPr>
              <a:t>1,885 MEDIUM  •  1,285 HIGH  •  851 LOW  •  426 CONTEXT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11112" y="5486400"/>
            <a:ext cx="5074920" cy="393192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56832" y="5541264"/>
            <a:ext cx="384048" cy="182880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0024" y="5532120"/>
            <a:ext cx="4544568" cy="219456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860" b="1">
                <a:solidFill>
                  <a:srgbClr val="191919"/>
                </a:solidFill>
                <a:latin typeface="Aptos"/>
              </a:rPr>
              <a:t>COVERAGE → GAP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84264" y="5797296"/>
            <a:ext cx="4928616" cy="45719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l"/>
            <a:r>
              <a:rPr sz="700" b="0">
                <a:solidFill>
                  <a:srgbClr val="414141"/>
                </a:solidFill>
                <a:latin typeface="Aptos"/>
              </a:rPr>
              <a:t>1,885 SUBSTANTIAL  •  1,267 MOSTLY  •  851 MINIMAL   |   Gap: SCOPE 1,313 • CONTROL 977 • PROCESS 855 +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040380" y="3547872"/>
            <a:ext cx="0" cy="73152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40380" y="4014215"/>
            <a:ext cx="0" cy="73153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040380" y="4480559"/>
            <a:ext cx="0" cy="73153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40380" y="4946904"/>
            <a:ext cx="0" cy="73152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040380" y="5413248"/>
            <a:ext cx="0" cy="73152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148572" y="3547872"/>
            <a:ext cx="0" cy="73152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148572" y="4014215"/>
            <a:ext cx="0" cy="73153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148572" y="4480559"/>
            <a:ext cx="0" cy="73153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148572" y="4946904"/>
            <a:ext cx="0" cy="73152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148572" y="5413248"/>
            <a:ext cx="0" cy="73152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685800" y="5943600"/>
            <a:ext cx="4709160" cy="347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6025896"/>
            <a:ext cx="4526280" cy="164592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DB0011"/>
                </a:solidFill>
                <a:latin typeface="Aptos"/>
              </a:rPr>
              <a:t>NO POLICY LINK: 1,778 ROBs • 56%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793992" y="5943600"/>
            <a:ext cx="4709160" cy="347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85432" y="6025896"/>
            <a:ext cx="4526280" cy="164592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191919"/>
                </a:solidFill>
                <a:latin typeface="Aptos"/>
              </a:rPr>
              <a:t>NO PROCEDURE LINK: 2,138 ROBs • 67%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" y="6437376"/>
            <a:ext cx="10972800" cy="201168"/>
          </a:xfrm>
          <a:prstGeom prst="rect">
            <a:avLst/>
          </a:prstGeom>
          <a:noFill/>
        </p:spPr>
        <p:txBody>
          <a:bodyPr wrap="none" lIns="22860" rIns="22860" tIns="9144" bIns="9144" anchor="ctr">
            <a:spAutoFit/>
          </a:bodyPr>
          <a:lstStyle/>
          <a:p>
            <a:pPr algn="ctr"/>
            <a:r>
              <a:rPr sz="919" b="1">
                <a:solidFill>
                  <a:srgbClr val="191919"/>
                </a:solidFill>
                <a:latin typeface="Aptos"/>
              </a:rPr>
              <a:t>The story: establish the universe → find plausible links → type every edge → grade confidence → quantify coverage → route the residual gap.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