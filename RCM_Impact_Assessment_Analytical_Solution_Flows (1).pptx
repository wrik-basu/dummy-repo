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01168"/>
            <a:ext cx="113842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1">
                <a:solidFill>
                  <a:srgbClr val="262626"/>
                </a:solidFill>
                <a:latin typeface="Aptos"/>
              </a:rPr>
              <a:t>Impact Assessment — End-to-End Analytical Solution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630936"/>
            <a:ext cx="1097280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DB0011"/>
                </a:solidFill>
                <a:latin typeface="Aptos"/>
              </a:rPr>
              <a:t>A PHASED AI / ANALYTICAL PIPELINE WITH EXPLICIT DECISION GATES AND FEEDBACK LOOPS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932688"/>
            <a:ext cx="685800" cy="32004"/>
          </a:xfrm>
          <a:prstGeom prst="rect">
            <a:avLst/>
          </a:prstGeom>
          <a:solidFill>
            <a:srgbClr val="DB0011"/>
          </a:solidFill>
          <a:ln w="12700">
            <a:solidFill>
              <a:srgbClr val="DB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84048" y="1143000"/>
            <a:ext cx="11384280" cy="502920"/>
          </a:xfrm>
          <a:prstGeom prst="roundRect">
            <a:avLst/>
          </a:prstGeom>
          <a:solidFill>
            <a:srgbClr val="262626"/>
          </a:solidFill>
          <a:ln w="12700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1">
                <a:solidFill>
                  <a:srgbClr val="DB0011"/>
                </a:solidFill>
                <a:latin typeface="Aptos"/>
              </a:rPr>
              <a:t>BUSINESS QUESTION  </a:t>
            </a:r>
            <a:r>
              <a:rPr sz="1050" b="0">
                <a:solidFill>
                  <a:srgbClr val="FFFFFF"/>
                </a:solidFill>
                <a:latin typeface="Aptos"/>
              </a:rPr>
              <a:t>Identify regulatory impact, risk &amp; control implications, or policy/procedure gaps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965960"/>
            <a:ext cx="1508760" cy="14173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6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12064" y="2093976"/>
            <a:ext cx="310896" cy="310896"/>
          </a:xfrm>
          <a:prstGeom prst="ellipse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" y="2093976"/>
            <a:ext cx="310896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066543"/>
            <a:ext cx="86868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70" b="1">
                <a:solidFill>
                  <a:srgbClr val="262626"/>
                </a:solidFill>
                <a:latin typeface="Aptos"/>
              </a:rPr>
              <a:t>Source &amp; Scope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322576"/>
            <a:ext cx="868680" cy="21945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80" b="1">
                <a:solidFill>
                  <a:srgbClr val="646464"/>
                </a:solidFill>
                <a:latin typeface="Aptos"/>
              </a:rP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2633472"/>
            <a:ext cx="1216151" cy="649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30">
                <a:solidFill>
                  <a:srgbClr val="646464"/>
                </a:solidFill>
                <a:latin typeface="Aptos"/>
              </a:defRPr>
            </a:pPr>
            <a:r>
              <a:rPr sz="840" b="0">
                <a:solidFill>
                  <a:srgbClr val="626262"/>
                </a:solidFill>
                <a:latin typeface="Aptos"/>
              </a:rPr>
              <a:t>• R² alerts + domain source</a:t>
            </a:r>
          </a:p>
          <a:p>
            <a:pPr>
              <a:spcAft>
                <a:spcPts val="300"/>
              </a:spcAft>
              <a:defRPr sz="930">
                <a:solidFill>
                  <a:srgbClr val="646464"/>
                </a:solidFill>
                <a:latin typeface="Aptos"/>
              </a:defRPr>
            </a:pPr>
            <a:r>
              <a:rPr sz="840" b="0">
                <a:solidFill>
                  <a:srgbClr val="626262"/>
                </a:solidFill>
                <a:latin typeface="Aptos"/>
              </a:rPr>
              <a:t>• Scope / taxonomy selection</a:t>
            </a:r>
          </a:p>
        </p:txBody>
      </p:sp>
      <p:sp>
        <p:nvSpPr>
          <p:cNvPr id="13" name="Chevron 12"/>
          <p:cNvSpPr/>
          <p:nvPr/>
        </p:nvSpPr>
        <p:spPr>
          <a:xfrm>
            <a:off x="1901951" y="2478024"/>
            <a:ext cx="210312" cy="347472"/>
          </a:xfrm>
          <a:prstGeom prst="chevron">
            <a:avLst/>
          </a:prstGeom>
          <a:solidFill>
            <a:srgbClr val="DB00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011679" y="1965960"/>
            <a:ext cx="1508760" cy="14173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6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139696" y="2093976"/>
            <a:ext cx="310896" cy="310896"/>
          </a:xfrm>
          <a:prstGeom prst="ellipse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39696" y="2093976"/>
            <a:ext cx="310896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23744" y="2066543"/>
            <a:ext cx="86868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70" b="1">
                <a:solidFill>
                  <a:srgbClr val="262626"/>
                </a:solidFill>
                <a:latin typeface="Aptos"/>
              </a:rPr>
              <a:t>Data Readiness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23744" y="2322576"/>
            <a:ext cx="868680" cy="21945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80" b="1">
                <a:solidFill>
                  <a:srgbClr val="646464"/>
                </a:solidFill>
                <a:latin typeface="Aptos"/>
              </a:rPr>
              <a:t>PREPARE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57984" y="2633472"/>
            <a:ext cx="1216151" cy="649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30">
                <a:solidFill>
                  <a:srgbClr val="646464"/>
                </a:solidFill>
                <a:latin typeface="Aptos"/>
              </a:defRPr>
            </a:pPr>
            <a:r>
              <a:rPr sz="840" b="0">
                <a:solidFill>
                  <a:srgbClr val="626262"/>
                </a:solidFill>
                <a:latin typeface="Aptos"/>
              </a:rPr>
              <a:t>• Quality &amp; distribution</a:t>
            </a:r>
          </a:p>
          <a:p>
            <a:pPr>
              <a:spcAft>
                <a:spcPts val="300"/>
              </a:spcAft>
              <a:defRPr sz="930">
                <a:solidFill>
                  <a:srgbClr val="646464"/>
                </a:solidFill>
                <a:latin typeface="Aptos"/>
              </a:defRPr>
            </a:pPr>
            <a:r>
              <a:rPr sz="840" b="0">
                <a:solidFill>
                  <a:srgbClr val="626262"/>
                </a:solidFill>
                <a:latin typeface="Aptos"/>
              </a:rPr>
              <a:t>• Text normalisation / profiling</a:t>
            </a:r>
          </a:p>
        </p:txBody>
      </p:sp>
      <p:sp>
        <p:nvSpPr>
          <p:cNvPr id="20" name="Chevron 19"/>
          <p:cNvSpPr/>
          <p:nvPr/>
        </p:nvSpPr>
        <p:spPr>
          <a:xfrm>
            <a:off x="3529583" y="2478024"/>
            <a:ext cx="210312" cy="347472"/>
          </a:xfrm>
          <a:prstGeom prst="chevron">
            <a:avLst/>
          </a:prstGeom>
          <a:solidFill>
            <a:srgbClr val="DB00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639311" y="1965960"/>
            <a:ext cx="1508760" cy="14173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6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767327" y="2093976"/>
            <a:ext cx="310896" cy="310896"/>
          </a:xfrm>
          <a:prstGeom prst="ellipse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67327" y="2093976"/>
            <a:ext cx="310896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51375" y="2066543"/>
            <a:ext cx="86868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70" b="1">
                <a:solidFill>
                  <a:srgbClr val="262626"/>
                </a:solidFill>
                <a:latin typeface="Aptos"/>
              </a:rPr>
              <a:t>Funnel &amp; Retrieve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51375" y="2322576"/>
            <a:ext cx="868680" cy="21945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80" b="1">
                <a:solidFill>
                  <a:srgbClr val="646464"/>
                </a:solidFill>
                <a:latin typeface="Aptos"/>
              </a:rPr>
              <a:t>CONTEXT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85615" y="2633472"/>
            <a:ext cx="1216151" cy="649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30">
                <a:solidFill>
                  <a:srgbClr val="646464"/>
                </a:solidFill>
                <a:latin typeface="Aptos"/>
              </a:defRPr>
            </a:pPr>
            <a:r>
              <a:rPr sz="840" b="0">
                <a:solidFill>
                  <a:srgbClr val="626262"/>
                </a:solidFill>
                <a:latin typeface="Aptos"/>
              </a:rPr>
              <a:t>• Domain taxonomy funnel</a:t>
            </a:r>
          </a:p>
          <a:p>
            <a:pPr>
              <a:spcAft>
                <a:spcPts val="300"/>
              </a:spcAft>
              <a:defRPr sz="930">
                <a:solidFill>
                  <a:srgbClr val="646464"/>
                </a:solidFill>
                <a:latin typeface="Aptos"/>
              </a:defRPr>
            </a:pPr>
            <a:r>
              <a:rPr sz="840" b="0">
                <a:solidFill>
                  <a:srgbClr val="626262"/>
                </a:solidFill>
                <a:latin typeface="Aptos"/>
              </a:rPr>
              <a:t>• Chunking + retrieval</a:t>
            </a:r>
          </a:p>
        </p:txBody>
      </p:sp>
      <p:sp>
        <p:nvSpPr>
          <p:cNvPr id="27" name="Chevron 26"/>
          <p:cNvSpPr/>
          <p:nvPr/>
        </p:nvSpPr>
        <p:spPr>
          <a:xfrm>
            <a:off x="5157215" y="2478024"/>
            <a:ext cx="210312" cy="347472"/>
          </a:xfrm>
          <a:prstGeom prst="chevron">
            <a:avLst/>
          </a:prstGeom>
          <a:solidFill>
            <a:srgbClr val="DB00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266944" y="1965960"/>
            <a:ext cx="1508760" cy="1417320"/>
          </a:xfrm>
          <a:prstGeom prst="roundRect">
            <a:avLst/>
          </a:prstGeom>
          <a:solidFill>
            <a:srgbClr val="FDE8EA"/>
          </a:solidFill>
          <a:ln w="16510">
            <a:solidFill>
              <a:srgbClr val="DB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394959" y="2093976"/>
            <a:ext cx="310896" cy="310896"/>
          </a:xfrm>
          <a:prstGeom prst="ellipse">
            <a:avLst/>
          </a:prstGeom>
          <a:solidFill>
            <a:srgbClr val="DB00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94959" y="2093976"/>
            <a:ext cx="310896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79008" y="2066543"/>
            <a:ext cx="86868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70" b="1">
                <a:solidFill>
                  <a:srgbClr val="262626"/>
                </a:solidFill>
                <a:latin typeface="Aptos"/>
              </a:rPr>
              <a:t>GenAI Assessment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79008" y="2322576"/>
            <a:ext cx="868680" cy="21945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80" b="1">
                <a:solidFill>
                  <a:srgbClr val="DB0011"/>
                </a:solidFill>
                <a:latin typeface="Aptos"/>
              </a:rPr>
              <a:t>REASON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13248" y="2633472"/>
            <a:ext cx="1216151" cy="649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30">
                <a:solidFill>
                  <a:srgbClr val="646464"/>
                </a:solidFill>
                <a:latin typeface="Aptos"/>
              </a:defRPr>
            </a:pPr>
            <a:r>
              <a:rPr sz="840" b="0">
                <a:solidFill>
                  <a:srgbClr val="626262"/>
                </a:solidFill>
                <a:latin typeface="Aptos"/>
              </a:rPr>
              <a:t>• Prompt / model execution</a:t>
            </a:r>
          </a:p>
          <a:p>
            <a:pPr>
              <a:spcAft>
                <a:spcPts val="300"/>
              </a:spcAft>
              <a:defRPr sz="930">
                <a:solidFill>
                  <a:srgbClr val="646464"/>
                </a:solidFill>
                <a:latin typeface="Aptos"/>
              </a:defRPr>
            </a:pPr>
            <a:r>
              <a:rPr sz="840" b="0">
                <a:solidFill>
                  <a:srgbClr val="626262"/>
                </a:solidFill>
                <a:latin typeface="Aptos"/>
              </a:rPr>
              <a:t>• Identification + gap analysis</a:t>
            </a:r>
          </a:p>
        </p:txBody>
      </p:sp>
      <p:sp>
        <p:nvSpPr>
          <p:cNvPr id="34" name="Chevron 33"/>
          <p:cNvSpPr/>
          <p:nvPr/>
        </p:nvSpPr>
        <p:spPr>
          <a:xfrm>
            <a:off x="6784848" y="2478024"/>
            <a:ext cx="210312" cy="347472"/>
          </a:xfrm>
          <a:prstGeom prst="chevron">
            <a:avLst/>
          </a:prstGeom>
          <a:solidFill>
            <a:srgbClr val="DB00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894575" y="1965960"/>
            <a:ext cx="1508760" cy="14173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6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022591" y="2093976"/>
            <a:ext cx="310896" cy="310896"/>
          </a:xfrm>
          <a:prstGeom prst="ellipse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022591" y="2093976"/>
            <a:ext cx="310896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06640" y="2066543"/>
            <a:ext cx="86868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70" b="1">
                <a:solidFill>
                  <a:srgbClr val="262626"/>
                </a:solidFill>
                <a:latin typeface="Aptos"/>
              </a:rPr>
              <a:t>Evidence &amp; Evaluate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06640" y="2322576"/>
            <a:ext cx="868680" cy="21945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80" b="1">
                <a:solidFill>
                  <a:srgbClr val="646464"/>
                </a:solidFill>
                <a:latin typeface="Aptos"/>
              </a:rPr>
              <a:t>VALIDATE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40879" y="2633472"/>
            <a:ext cx="1216151" cy="649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30">
                <a:solidFill>
                  <a:srgbClr val="646464"/>
                </a:solidFill>
                <a:latin typeface="Aptos"/>
              </a:defRPr>
            </a:pPr>
            <a:r>
              <a:rPr sz="840" b="0">
                <a:solidFill>
                  <a:srgbClr val="626262"/>
                </a:solidFill>
                <a:latin typeface="Aptos"/>
              </a:rPr>
              <a:t>• Evidence / traceability</a:t>
            </a:r>
          </a:p>
          <a:p>
            <a:pPr>
              <a:spcAft>
                <a:spcPts val="300"/>
              </a:spcAft>
              <a:defRPr sz="930">
                <a:solidFill>
                  <a:srgbClr val="646464"/>
                </a:solidFill>
                <a:latin typeface="Aptos"/>
              </a:defRPr>
            </a:pPr>
            <a:r>
              <a:rPr sz="840" b="0">
                <a:solidFill>
                  <a:srgbClr val="626262"/>
                </a:solidFill>
                <a:latin typeface="Aptos"/>
              </a:rPr>
              <a:t>• Hallucination + benchmarking</a:t>
            </a:r>
          </a:p>
        </p:txBody>
      </p:sp>
      <p:sp>
        <p:nvSpPr>
          <p:cNvPr id="41" name="Chevron 40"/>
          <p:cNvSpPr/>
          <p:nvPr/>
        </p:nvSpPr>
        <p:spPr>
          <a:xfrm>
            <a:off x="8412480" y="2478024"/>
            <a:ext cx="210312" cy="347472"/>
          </a:xfrm>
          <a:prstGeom prst="chevron">
            <a:avLst/>
          </a:prstGeom>
          <a:solidFill>
            <a:srgbClr val="DB00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8522207" y="1965960"/>
            <a:ext cx="1508760" cy="14173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6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650224" y="2093976"/>
            <a:ext cx="310896" cy="310896"/>
          </a:xfrm>
          <a:prstGeom prst="ellipse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650224" y="2093976"/>
            <a:ext cx="310896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34272" y="2066543"/>
            <a:ext cx="86868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70" b="1">
                <a:solidFill>
                  <a:srgbClr val="262626"/>
                </a:solidFill>
                <a:latin typeface="Aptos"/>
              </a:rPr>
              <a:t>SME Decision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34272" y="2322576"/>
            <a:ext cx="868680" cy="21945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80" b="1">
                <a:solidFill>
                  <a:srgbClr val="646464"/>
                </a:solidFill>
                <a:latin typeface="Aptos"/>
              </a:rPr>
              <a:t>GATE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668511" y="2633472"/>
            <a:ext cx="1216151" cy="649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30">
                <a:solidFill>
                  <a:srgbClr val="646464"/>
                </a:solidFill>
                <a:latin typeface="Aptos"/>
              </a:defRPr>
            </a:pPr>
            <a:r>
              <a:rPr sz="840" b="0">
                <a:solidFill>
                  <a:srgbClr val="626262"/>
                </a:solidFill>
                <a:latin typeface="Aptos"/>
              </a:rPr>
              <a:t>• Business / SME review</a:t>
            </a:r>
          </a:p>
          <a:p>
            <a:pPr>
              <a:spcAft>
                <a:spcPts val="300"/>
              </a:spcAft>
              <a:defRPr sz="930">
                <a:solidFill>
                  <a:srgbClr val="646464"/>
                </a:solidFill>
                <a:latin typeface="Aptos"/>
              </a:defRPr>
            </a:pPr>
            <a:r>
              <a:rPr sz="840" b="0">
                <a:solidFill>
                  <a:srgbClr val="626262"/>
                </a:solidFill>
                <a:latin typeface="Aptos"/>
              </a:rPr>
              <a:t>• Sign-off / refinement</a:t>
            </a:r>
          </a:p>
        </p:txBody>
      </p:sp>
      <p:sp>
        <p:nvSpPr>
          <p:cNvPr id="48" name="Chevron 47"/>
          <p:cNvSpPr/>
          <p:nvPr/>
        </p:nvSpPr>
        <p:spPr>
          <a:xfrm>
            <a:off x="10040111" y="2478024"/>
            <a:ext cx="210312" cy="347472"/>
          </a:xfrm>
          <a:prstGeom prst="chevron">
            <a:avLst/>
          </a:prstGeom>
          <a:solidFill>
            <a:srgbClr val="DB00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10149840" y="1965960"/>
            <a:ext cx="1508760" cy="14173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6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0277856" y="2093976"/>
            <a:ext cx="310896" cy="310896"/>
          </a:xfrm>
          <a:prstGeom prst="ellipse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277856" y="2093976"/>
            <a:ext cx="310896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7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661904" y="2066543"/>
            <a:ext cx="8686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19" b="1">
                <a:solidFill>
                  <a:srgbClr val="262626"/>
                </a:solidFill>
                <a:latin typeface="Aptos"/>
              </a:rPr>
              <a:t>Production
Ready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661904" y="2322576"/>
            <a:ext cx="868680" cy="21945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80" b="1">
                <a:solidFill>
                  <a:srgbClr val="646464"/>
                </a:solidFill>
                <a:latin typeface="Aptos"/>
              </a:rPr>
              <a:t>OPERATIONALISE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296144" y="2633472"/>
            <a:ext cx="1216151" cy="649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30">
                <a:solidFill>
                  <a:srgbClr val="646464"/>
                </a:solidFill>
                <a:latin typeface="Aptos"/>
              </a:defRPr>
            </a:pPr>
            <a:r>
              <a:rPr sz="840" b="0">
                <a:solidFill>
                  <a:srgbClr val="626262"/>
                </a:solidFill>
                <a:latin typeface="Aptos"/>
              </a:rPr>
              <a:t>• Modularise + KT</a:t>
            </a:r>
          </a:p>
          <a:p>
            <a:pPr>
              <a:spcAft>
                <a:spcPts val="300"/>
              </a:spcAft>
              <a:defRPr sz="930">
                <a:solidFill>
                  <a:srgbClr val="646464"/>
                </a:solidFill>
                <a:latin typeface="Aptos"/>
              </a:defRPr>
            </a:pPr>
            <a:r>
              <a:rPr sz="840" b="0">
                <a:solidFill>
                  <a:srgbClr val="626262"/>
                </a:solidFill>
                <a:latin typeface="Aptos"/>
              </a:rPr>
              <a:t>• Governance + deployment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02920" y="3547872"/>
            <a:ext cx="19202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DB0011"/>
                </a:solidFill>
                <a:latin typeface="Aptos"/>
              </a:rPr>
              <a:t>ITERATIVE FEEDBACK LOOP</a:t>
            </a:r>
          </a:p>
        </p:txBody>
      </p:sp>
      <p:cxnSp>
        <p:nvCxnSpPr>
          <p:cNvPr id="56" name="Connector 55"/>
          <p:cNvCxnSpPr/>
          <p:nvPr/>
        </p:nvCxnSpPr>
        <p:spPr>
          <a:xfrm flipH="1">
            <a:off x="3840480" y="3401568"/>
            <a:ext cx="2286000" cy="0"/>
          </a:xfrm>
          <a:prstGeom prst="line">
            <a:avLst/>
          </a:prstGeom>
          <a:ln w="22860">
            <a:solidFill>
              <a:srgbClr val="DB001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2743200" y="3511296"/>
            <a:ext cx="62179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19" b="1">
                <a:solidFill>
                  <a:srgbClr val="626262"/>
                </a:solidFill>
                <a:latin typeface="Aptos"/>
              </a:rPr>
              <a:t>SME findings  →  refine funnel / retrieval / prompt  →  re-run assessment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384048" y="3822191"/>
            <a:ext cx="11384280" cy="1078992"/>
          </a:xfrm>
          <a:prstGeom prst="roundRect">
            <a:avLst/>
          </a:prstGeom>
          <a:solidFill>
            <a:srgbClr val="F6F6F6"/>
          </a:solidFill>
          <a:ln w="12700">
            <a:solidFill>
              <a:srgbClr val="D6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94360" y="3968496"/>
            <a:ext cx="169164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DB0011"/>
                </a:solidFill>
                <a:latin typeface="Aptos"/>
              </a:rPr>
              <a:t>ANALYTICAL OUTPUTS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2240280" y="3913632"/>
            <a:ext cx="278892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377440" y="3986784"/>
            <a:ext cx="2514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Aptos"/>
              </a:rPr>
              <a:t>Identification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377440" y="4187952"/>
            <a:ext cx="251460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0">
                <a:solidFill>
                  <a:srgbClr val="626262"/>
                </a:solidFill>
                <a:latin typeface="Aptos"/>
              </a:rPr>
              <a:t>Relevant regulation / risk / policy linkage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5303520" y="3913632"/>
            <a:ext cx="278892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440680" y="3986784"/>
            <a:ext cx="2514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Aptos"/>
              </a:rPr>
              <a:t>Gaps &amp; Recommendations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440680" y="4187952"/>
            <a:ext cx="251460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0">
                <a:solidFill>
                  <a:srgbClr val="626262"/>
                </a:solidFill>
                <a:latin typeface="Aptos"/>
              </a:rPr>
              <a:t>Potential control or documentation gaps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8366760" y="3913632"/>
            <a:ext cx="278892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503920" y="3986784"/>
            <a:ext cx="2514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Aptos"/>
              </a:rPr>
              <a:t>Evidence Trail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503920" y="4187952"/>
            <a:ext cx="251460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0">
                <a:solidFill>
                  <a:srgbClr val="626262"/>
                </a:solidFill>
                <a:latin typeface="Aptos"/>
              </a:rPr>
              <a:t>Source context supporting each assessment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384048" y="5138928"/>
            <a:ext cx="11384280" cy="713232"/>
          </a:xfrm>
          <a:prstGeom prst="roundRect">
            <a:avLst/>
          </a:prstGeom>
          <a:solidFill>
            <a:srgbClr val="262626"/>
          </a:solidFill>
          <a:ln w="12700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94360" y="5266944"/>
            <a:ext cx="2148840" cy="21945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DB0011"/>
                </a:solidFill>
                <a:latin typeface="Aptos"/>
              </a:rPr>
              <a:t>GOVERNANCE / CONTROL OVERLAY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743200" y="5230368"/>
            <a:ext cx="86410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ASDA · QMIO · Peer Review   |   ToR · MDT · AIRCO   |   IMR approval   |   Monitoring framework   |   Deployment controls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532120" y="6537960"/>
            <a:ext cx="10972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50" b="0">
                <a:solidFill>
                  <a:srgbClr val="A5A5A5"/>
                </a:solidFill>
                <a:latin typeface="Aptos"/>
              </a:rPr>
              <a:t>INTERNAL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01168"/>
            <a:ext cx="113842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50" b="1">
                <a:solidFill>
                  <a:srgbClr val="262626"/>
                </a:solidFill>
                <a:latin typeface="Aptos"/>
              </a:rPr>
              <a:t>AI / Analytical Pipeline — From Source Data to Evidence-Backed 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630936"/>
            <a:ext cx="1097280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DB0011"/>
                </a:solidFill>
                <a:latin typeface="Aptos"/>
              </a:rPr>
              <a:t>THE ANALYTICAL ENGINE: DOMAIN-ADAPTED RETRIEVAL + GENAI REASONING + VALIDATION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932688"/>
            <a:ext cx="685800" cy="32004"/>
          </a:xfrm>
          <a:prstGeom prst="rect">
            <a:avLst/>
          </a:prstGeom>
          <a:solidFill>
            <a:srgbClr val="DB0011"/>
          </a:solidFill>
          <a:ln w="12700">
            <a:solidFill>
              <a:srgbClr val="DB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84048" y="1234440"/>
            <a:ext cx="1828800" cy="4526280"/>
          </a:xfrm>
          <a:prstGeom prst="roundRect">
            <a:avLst/>
          </a:prstGeom>
          <a:solidFill>
            <a:srgbClr val="F6F6F6"/>
          </a:solidFill>
          <a:ln w="12700">
            <a:solidFill>
              <a:srgbClr val="D6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417320"/>
            <a:ext cx="146304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262626"/>
                </a:solidFill>
                <a:latin typeface="Aptos"/>
              </a:rPr>
              <a:t>01  DATA SOURCES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810512"/>
            <a:ext cx="1444752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50">
                <a:solidFill>
                  <a:srgbClr val="646464"/>
                </a:solidFill>
                <a:latin typeface="Aptos"/>
              </a:defRPr>
            </a:pPr>
            <a:r>
              <a:rPr sz="869" b="0">
                <a:solidFill>
                  <a:srgbClr val="626262"/>
                </a:solidFill>
                <a:latin typeface="Aptos"/>
              </a:rPr>
              <a:t>• Regulatory Alerts (R²)</a:t>
            </a:r>
          </a:p>
          <a:p>
            <a:pPr>
              <a:spcAft>
                <a:spcPts val="300"/>
              </a:spcAft>
              <a:defRPr sz="950">
                <a:solidFill>
                  <a:srgbClr val="646464"/>
                </a:solidFill>
                <a:latin typeface="Aptos"/>
              </a:defRPr>
            </a:pPr>
            <a:r>
              <a:rPr sz="869" b="0">
                <a:solidFill>
                  <a:srgbClr val="626262"/>
                </a:solidFill>
                <a:latin typeface="Aptos"/>
              </a:rPr>
              <a:t>• Regulations (REGMAP)</a:t>
            </a:r>
          </a:p>
          <a:p>
            <a:pPr>
              <a:spcAft>
                <a:spcPts val="300"/>
              </a:spcAft>
              <a:defRPr sz="950">
                <a:solidFill>
                  <a:srgbClr val="646464"/>
                </a:solidFill>
                <a:latin typeface="Aptos"/>
              </a:defRPr>
            </a:pPr>
            <a:r>
              <a:rPr sz="869" b="0">
                <a:solidFill>
                  <a:srgbClr val="626262"/>
                </a:solidFill>
                <a:latin typeface="Aptos"/>
              </a:rPr>
              <a:t>• Risk &amp; Controls (HELIOS)</a:t>
            </a:r>
          </a:p>
          <a:p>
            <a:pPr>
              <a:spcAft>
                <a:spcPts val="300"/>
              </a:spcAft>
              <a:defRPr sz="950">
                <a:solidFill>
                  <a:srgbClr val="646464"/>
                </a:solidFill>
                <a:latin typeface="Aptos"/>
              </a:defRPr>
            </a:pPr>
            <a:r>
              <a:rPr sz="869" b="0">
                <a:solidFill>
                  <a:srgbClr val="626262"/>
                </a:solidFill>
                <a:latin typeface="Aptos"/>
              </a:rPr>
              <a:t>• Policies &amp; Procedures (GPPS)</a:t>
            </a:r>
          </a:p>
          <a:p>
            <a:pPr>
              <a:spcAft>
                <a:spcPts val="300"/>
              </a:spcAft>
              <a:defRPr sz="950">
                <a:solidFill>
                  <a:srgbClr val="646464"/>
                </a:solidFill>
                <a:latin typeface="Aptos"/>
              </a:defRPr>
            </a:pPr>
            <a:r>
              <a:rPr sz="869" b="0">
                <a:solidFill>
                  <a:srgbClr val="626262"/>
                </a:solidFill>
                <a:latin typeface="Aptos"/>
              </a:rPr>
              <a:t>• Domain inventory / taxonomy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4315968"/>
            <a:ext cx="1444752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4453128"/>
            <a:ext cx="118872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1">
                <a:solidFill>
                  <a:srgbClr val="DB0011"/>
                </a:solidFill>
                <a:latin typeface="Aptos"/>
              </a:rPr>
              <a:t>DOMAIN ADAPTER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718304"/>
            <a:ext cx="118872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646464"/>
                </a:solidFill>
                <a:latin typeface="Aptos"/>
              </a:rPr>
              <a:t>Source + taxonomy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231136" y="3474720"/>
            <a:ext cx="530352" cy="0"/>
          </a:xfrm>
          <a:prstGeom prst="line">
            <a:avLst/>
          </a:prstGeom>
          <a:ln w="25400">
            <a:solidFill>
              <a:srgbClr val="DB00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761488" y="1828800"/>
            <a:ext cx="1755648" cy="32461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6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98648" y="1993392"/>
            <a:ext cx="36576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DB0011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98648" y="2331720"/>
            <a:ext cx="1444752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19" b="1">
                <a:solidFill>
                  <a:srgbClr val="262626"/>
                </a:solidFill>
                <a:latin typeface="Aptos"/>
              </a:rPr>
              <a:t>QUALITY &amp; EDA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98648" y="2907792"/>
            <a:ext cx="14173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19">
                <a:solidFill>
                  <a:srgbClr val="646464"/>
                </a:solidFill>
                <a:latin typeface="Aptos"/>
              </a:defRPr>
            </a:pPr>
            <a:r>
              <a:rPr sz="869" b="0">
                <a:solidFill>
                  <a:srgbClr val="626262"/>
                </a:solidFill>
                <a:latin typeface="Aptos"/>
              </a:rPr>
              <a:t>• Data quality checks</a:t>
            </a:r>
          </a:p>
          <a:p>
            <a:pPr>
              <a:spcAft>
                <a:spcPts val="300"/>
              </a:spcAft>
              <a:defRPr sz="919">
                <a:solidFill>
                  <a:srgbClr val="646464"/>
                </a:solidFill>
                <a:latin typeface="Aptos"/>
              </a:defRPr>
            </a:pPr>
            <a:r>
              <a:rPr sz="869" b="0">
                <a:solidFill>
                  <a:srgbClr val="626262"/>
                </a:solidFill>
                <a:latin typeface="Aptos"/>
              </a:rPr>
              <a:t>• Distribution / coverage</a:t>
            </a:r>
          </a:p>
          <a:p>
            <a:pPr>
              <a:spcAft>
                <a:spcPts val="300"/>
              </a:spcAft>
              <a:defRPr sz="919">
                <a:solidFill>
                  <a:srgbClr val="646464"/>
                </a:solidFill>
                <a:latin typeface="Aptos"/>
              </a:defRPr>
            </a:pPr>
            <a:r>
              <a:rPr sz="869" b="0">
                <a:solidFill>
                  <a:srgbClr val="626262"/>
                </a:solidFill>
                <a:latin typeface="Aptos"/>
              </a:rPr>
              <a:t>• Feature understanding</a:t>
            </a:r>
          </a:p>
        </p:txBody>
      </p:sp>
      <p:sp>
        <p:nvSpPr>
          <p:cNvPr id="16" name="Chevron 15"/>
          <p:cNvSpPr/>
          <p:nvPr/>
        </p:nvSpPr>
        <p:spPr>
          <a:xfrm>
            <a:off x="4553712" y="3246120"/>
            <a:ext cx="201168" cy="329184"/>
          </a:xfrm>
          <a:prstGeom prst="chevron">
            <a:avLst/>
          </a:prstGeom>
          <a:solidFill>
            <a:srgbClr val="DB00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773168" y="1828800"/>
            <a:ext cx="1755648" cy="32461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6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10328" y="1993392"/>
            <a:ext cx="36576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DB0011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10328" y="2331720"/>
            <a:ext cx="1444752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20" b="1">
                <a:solidFill>
                  <a:srgbClr val="262626"/>
                </a:solidFill>
                <a:latin typeface="Aptos"/>
              </a:rPr>
              <a:t>PREPROCESS &amp; FUNNEL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10328" y="2907792"/>
            <a:ext cx="14173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19">
                <a:solidFill>
                  <a:srgbClr val="646464"/>
                </a:solidFill>
                <a:latin typeface="Aptos"/>
              </a:defRPr>
            </a:pPr>
            <a:r>
              <a:rPr sz="869" b="0">
                <a:solidFill>
                  <a:srgbClr val="626262"/>
                </a:solidFill>
                <a:latin typeface="Aptos"/>
              </a:rPr>
              <a:t>• Text preprocessing</a:t>
            </a:r>
          </a:p>
          <a:p>
            <a:pPr>
              <a:spcAft>
                <a:spcPts val="300"/>
              </a:spcAft>
              <a:defRPr sz="919">
                <a:solidFill>
                  <a:srgbClr val="646464"/>
                </a:solidFill>
                <a:latin typeface="Aptos"/>
              </a:defRPr>
            </a:pPr>
            <a:r>
              <a:rPr sz="869" b="0">
                <a:solidFill>
                  <a:srgbClr val="626262"/>
                </a:solidFill>
                <a:latin typeface="Aptos"/>
              </a:rPr>
              <a:t>• Taxonomy-based filtering</a:t>
            </a:r>
          </a:p>
          <a:p>
            <a:pPr>
              <a:spcAft>
                <a:spcPts val="300"/>
              </a:spcAft>
              <a:defRPr sz="919">
                <a:solidFill>
                  <a:srgbClr val="646464"/>
                </a:solidFill>
                <a:latin typeface="Aptos"/>
              </a:defRPr>
            </a:pPr>
            <a:r>
              <a:rPr sz="869" b="0">
                <a:solidFill>
                  <a:srgbClr val="626262"/>
                </a:solidFill>
                <a:latin typeface="Aptos"/>
              </a:rPr>
              <a:t>• Reduce search space</a:t>
            </a:r>
          </a:p>
        </p:txBody>
      </p:sp>
      <p:sp>
        <p:nvSpPr>
          <p:cNvPr id="21" name="Chevron 20"/>
          <p:cNvSpPr/>
          <p:nvPr/>
        </p:nvSpPr>
        <p:spPr>
          <a:xfrm>
            <a:off x="6565392" y="3246120"/>
            <a:ext cx="201168" cy="329184"/>
          </a:xfrm>
          <a:prstGeom prst="chevron">
            <a:avLst/>
          </a:prstGeom>
          <a:solidFill>
            <a:srgbClr val="DB00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784848" y="1828800"/>
            <a:ext cx="1755648" cy="32461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6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22008" y="1993392"/>
            <a:ext cx="36576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DB0011"/>
                </a:solidFill>
                <a:latin typeface="Apto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22008" y="2331720"/>
            <a:ext cx="1444752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19" b="1">
                <a:solidFill>
                  <a:srgbClr val="262626"/>
                </a:solidFill>
                <a:latin typeface="Aptos"/>
              </a:rPr>
              <a:t>CONTEXT ENGINE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22008" y="2907792"/>
            <a:ext cx="14173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19">
                <a:solidFill>
                  <a:srgbClr val="646464"/>
                </a:solidFill>
                <a:latin typeface="Aptos"/>
              </a:defRPr>
            </a:pPr>
            <a:r>
              <a:rPr sz="869" b="0">
                <a:solidFill>
                  <a:srgbClr val="626262"/>
                </a:solidFill>
                <a:latin typeface="Aptos"/>
              </a:rPr>
              <a:t>• Chunking strategy</a:t>
            </a:r>
          </a:p>
          <a:p>
            <a:pPr>
              <a:spcAft>
                <a:spcPts val="300"/>
              </a:spcAft>
              <a:defRPr sz="919">
                <a:solidFill>
                  <a:srgbClr val="646464"/>
                </a:solidFill>
                <a:latin typeface="Aptos"/>
              </a:defRPr>
            </a:pPr>
            <a:r>
              <a:rPr sz="869" b="0">
                <a:solidFill>
                  <a:srgbClr val="626262"/>
                </a:solidFill>
                <a:latin typeface="Aptos"/>
              </a:rPr>
              <a:t>• Retrieval tuning</a:t>
            </a:r>
          </a:p>
          <a:p>
            <a:pPr>
              <a:spcAft>
                <a:spcPts val="300"/>
              </a:spcAft>
              <a:defRPr sz="919">
                <a:solidFill>
                  <a:srgbClr val="646464"/>
                </a:solidFill>
                <a:latin typeface="Aptos"/>
              </a:defRPr>
            </a:pPr>
            <a:r>
              <a:rPr sz="869" b="0">
                <a:solidFill>
                  <a:srgbClr val="626262"/>
                </a:solidFill>
                <a:latin typeface="Aptos"/>
              </a:rPr>
              <a:t>• Relevant evidence context</a:t>
            </a:r>
          </a:p>
        </p:txBody>
      </p:sp>
      <p:sp>
        <p:nvSpPr>
          <p:cNvPr id="26" name="Chevron 25"/>
          <p:cNvSpPr/>
          <p:nvPr/>
        </p:nvSpPr>
        <p:spPr>
          <a:xfrm>
            <a:off x="8577072" y="3246120"/>
            <a:ext cx="201168" cy="329184"/>
          </a:xfrm>
          <a:prstGeom prst="chevron">
            <a:avLst/>
          </a:prstGeom>
          <a:solidFill>
            <a:srgbClr val="DB00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796528" y="1828800"/>
            <a:ext cx="1755648" cy="3246120"/>
          </a:xfrm>
          <a:prstGeom prst="roundRect">
            <a:avLst/>
          </a:prstGeom>
          <a:solidFill>
            <a:srgbClr val="FDE8EA"/>
          </a:solidFill>
          <a:ln w="16510">
            <a:solidFill>
              <a:srgbClr val="DB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33688" y="1993392"/>
            <a:ext cx="36576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DB0011"/>
                </a:solidFill>
                <a:latin typeface="Aptos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33688" y="2331720"/>
            <a:ext cx="1444752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20" b="1">
                <a:solidFill>
                  <a:srgbClr val="262626"/>
                </a:solidFill>
                <a:latin typeface="Aptos"/>
              </a:rPr>
              <a:t>GENAI REASONING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33688" y="2907792"/>
            <a:ext cx="14173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19">
                <a:solidFill>
                  <a:srgbClr val="646464"/>
                </a:solidFill>
                <a:latin typeface="Aptos"/>
              </a:defRPr>
            </a:pPr>
            <a:r>
              <a:rPr sz="869" b="0">
                <a:solidFill>
                  <a:srgbClr val="626262"/>
                </a:solidFill>
                <a:latin typeface="Aptos"/>
              </a:rPr>
              <a:t>• Prompt engineering</a:t>
            </a:r>
          </a:p>
          <a:p>
            <a:pPr>
              <a:spcAft>
                <a:spcPts val="300"/>
              </a:spcAft>
              <a:defRPr sz="919">
                <a:solidFill>
                  <a:srgbClr val="646464"/>
                </a:solidFill>
                <a:latin typeface="Aptos"/>
              </a:defRPr>
            </a:pPr>
            <a:r>
              <a:rPr sz="869" b="0">
                <a:solidFill>
                  <a:srgbClr val="626262"/>
                </a:solidFill>
                <a:latin typeface="Aptos"/>
              </a:rPr>
              <a:t>• Model execution</a:t>
            </a:r>
          </a:p>
          <a:p>
            <a:pPr>
              <a:spcAft>
                <a:spcPts val="300"/>
              </a:spcAft>
              <a:defRPr sz="919">
                <a:solidFill>
                  <a:srgbClr val="646464"/>
                </a:solidFill>
                <a:latin typeface="Aptos"/>
              </a:defRPr>
            </a:pPr>
            <a:r>
              <a:rPr sz="869" b="0">
                <a:solidFill>
                  <a:srgbClr val="626262"/>
                </a:solidFill>
                <a:latin typeface="Aptos"/>
              </a:rPr>
              <a:t>• Structured assessment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10561320" y="3474720"/>
            <a:ext cx="521208" cy="0"/>
          </a:xfrm>
          <a:prstGeom prst="line">
            <a:avLst/>
          </a:prstGeom>
          <a:ln w="25400">
            <a:solidFill>
              <a:srgbClr val="DB00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10716768" y="1234440"/>
            <a:ext cx="1051560" cy="4526280"/>
          </a:xfrm>
          <a:prstGeom prst="roundRect">
            <a:avLst/>
          </a:prstGeom>
          <a:solidFill>
            <a:srgbClr val="262626"/>
          </a:solidFill>
          <a:ln w="12700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716768" y="1481328"/>
            <a:ext cx="10515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DB0011"/>
                </a:solidFill>
                <a:latin typeface="Aptos"/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16768" y="1847088"/>
            <a:ext cx="10515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OUTPUT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771632" y="2423160"/>
            <a:ext cx="9601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70" b="1">
                <a:solidFill>
                  <a:srgbClr val="FFFFFF"/>
                </a:solidFill>
                <a:latin typeface="Aptos"/>
              </a:rPr>
              <a:t>Identification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863072" y="3154680"/>
            <a:ext cx="804672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Gaps &amp;
Recommendations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71632" y="4160520"/>
            <a:ext cx="9601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10" b="0">
                <a:solidFill>
                  <a:srgbClr val="E1E1E1"/>
                </a:solidFill>
                <a:latin typeface="Aptos"/>
              </a:rPr>
              <a:t>Evidence /
source context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761488" y="5321808"/>
            <a:ext cx="7818120" cy="530352"/>
          </a:xfrm>
          <a:prstGeom prst="roundRect">
            <a:avLst/>
          </a:prstGeom>
          <a:solidFill>
            <a:srgbClr val="FDE8EA"/>
          </a:solidFill>
          <a:ln w="12700">
            <a:solidFill>
              <a:srgbClr val="DB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944368" y="5449824"/>
            <a:ext cx="745236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80" b="1">
                <a:solidFill>
                  <a:srgbClr val="262626"/>
                </a:solidFill>
                <a:latin typeface="Aptos"/>
              </a:rPr>
              <a:t>VALIDATION GATE  →  Solution evaluation · Testing / fine-tuning · Hallucination checks · Cross-model benchmarking · SME sign-off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9144000" y="5074920"/>
            <a:ext cx="0" cy="246888"/>
          </a:xfrm>
          <a:prstGeom prst="line">
            <a:avLst/>
          </a:prstGeom>
          <a:ln w="17780">
            <a:solidFill>
              <a:srgbClr val="DB00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532120" y="6537960"/>
            <a:ext cx="10972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50" b="0">
                <a:solidFill>
                  <a:srgbClr val="A5A5A5"/>
                </a:solidFill>
                <a:latin typeface="Aptos"/>
              </a:rPr>
              <a:t>INTERNAL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01168"/>
            <a:ext cx="113842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50" b="1">
                <a:solidFill>
                  <a:srgbClr val="262626"/>
                </a:solidFill>
                <a:latin typeface="Aptos"/>
              </a:rPr>
              <a:t>Reusable Analytical Pattern — One Core Pipeline, Multiple Domains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640080"/>
            <a:ext cx="109728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DB0011"/>
                </a:solidFill>
                <a:latin typeface="Aptos"/>
              </a:rPr>
              <a:t>SEPARATE THE STABLE ANALYTICAL ENGINE FROM DOMAIN-SPECIFIC SOURCE AND TAXONOMY ADAPTERS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932688"/>
            <a:ext cx="685800" cy="32004"/>
          </a:xfrm>
          <a:prstGeom prst="rect">
            <a:avLst/>
          </a:prstGeom>
          <a:solidFill>
            <a:srgbClr val="DB0011"/>
          </a:solidFill>
          <a:ln w="12700">
            <a:solidFill>
              <a:srgbClr val="DB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84048" y="1261872"/>
            <a:ext cx="3511296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48640" y="1481328"/>
            <a:ext cx="347472" cy="347472"/>
          </a:xfrm>
          <a:prstGeom prst="ellipse">
            <a:avLst/>
          </a:prstGeom>
          <a:solidFill>
            <a:srgbClr val="DB00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81328"/>
            <a:ext cx="347472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" y="1389888"/>
            <a:ext cx="265176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Aptos"/>
              </a:rPr>
              <a:t>REGULATION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" y="1737360"/>
            <a:ext cx="265176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1">
                <a:solidFill>
                  <a:srgbClr val="DB0011"/>
                </a:solidFill>
                <a:latin typeface="Aptos"/>
              </a:rPr>
              <a:t>Source: REGMAP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" y="1975104"/>
            <a:ext cx="26974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0">
                <a:solidFill>
                  <a:srgbClr val="626262"/>
                </a:solidFill>
                <a:latin typeface="Aptos"/>
              </a:rPr>
              <a:t>Regulator Code · Risk Steward Area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87952" y="1261872"/>
            <a:ext cx="3511296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352544" y="1481328"/>
            <a:ext cx="347472" cy="347472"/>
          </a:xfrm>
          <a:prstGeom prst="ellipse">
            <a:avLst/>
          </a:prstGeom>
          <a:solidFill>
            <a:srgbClr val="DB00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52544" y="1481328"/>
            <a:ext cx="347472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1389888"/>
            <a:ext cx="265176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Aptos"/>
              </a:rPr>
              <a:t>RISK &amp; CONTROL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1737360"/>
            <a:ext cx="265176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1">
                <a:solidFill>
                  <a:srgbClr val="DB0011"/>
                </a:solidFill>
                <a:latin typeface="Aptos"/>
              </a:rPr>
              <a:t>Source: HELIOS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1975104"/>
            <a:ext cx="26974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0">
                <a:solidFill>
                  <a:srgbClr val="626262"/>
                </a:solidFill>
                <a:latin typeface="Aptos"/>
              </a:rPr>
              <a:t>L1 · L2 · L3 Risk Taxonomies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91856" y="1261872"/>
            <a:ext cx="3511296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156448" y="1481328"/>
            <a:ext cx="347472" cy="347472"/>
          </a:xfrm>
          <a:prstGeom prst="ellipse">
            <a:avLst/>
          </a:prstGeom>
          <a:solidFill>
            <a:srgbClr val="DB00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56448" y="1481328"/>
            <a:ext cx="347472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04504" y="1389888"/>
            <a:ext cx="265176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Aptos"/>
              </a:rPr>
              <a:t>POLICIES &amp; PROCEDURES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04504" y="1737360"/>
            <a:ext cx="265176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1">
                <a:solidFill>
                  <a:srgbClr val="DB0011"/>
                </a:solidFill>
                <a:latin typeface="Aptos"/>
              </a:rPr>
              <a:t>Source: GPPS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04504" y="1975104"/>
            <a:ext cx="26974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0">
                <a:solidFill>
                  <a:srgbClr val="626262"/>
                </a:solidFill>
                <a:latin typeface="Aptos"/>
              </a:rPr>
              <a:t>Policy &amp; Procedure taxonomy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234440" y="2761488"/>
            <a:ext cx="9738360" cy="1828800"/>
          </a:xfrm>
          <a:prstGeom prst="roundRect">
            <a:avLst/>
          </a:prstGeom>
          <a:solidFill>
            <a:srgbClr val="262626"/>
          </a:solidFill>
          <a:ln w="12700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536192" y="2971800"/>
            <a:ext cx="29260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Aptos"/>
              </a:rPr>
              <a:t>COMMON ANALYTICAL ENGINE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536192" y="3493008"/>
            <a:ext cx="155448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09344" y="3602736"/>
            <a:ext cx="2286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DB0011"/>
                </a:solidFill>
                <a:latin typeface="Aptos"/>
              </a:rPr>
              <a:t>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56231" y="3575304"/>
            <a:ext cx="10972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80" b="1">
                <a:solidFill>
                  <a:srgbClr val="262626"/>
                </a:solidFill>
                <a:latin typeface="Aptos"/>
              </a:rPr>
              <a:t>EDA &amp; quality</a:t>
            </a:r>
          </a:p>
        </p:txBody>
      </p:sp>
      <p:sp>
        <p:nvSpPr>
          <p:cNvPr id="28" name="Chevron 27"/>
          <p:cNvSpPr/>
          <p:nvPr/>
        </p:nvSpPr>
        <p:spPr>
          <a:xfrm>
            <a:off x="3108960" y="3657600"/>
            <a:ext cx="146304" cy="246888"/>
          </a:xfrm>
          <a:prstGeom prst="chevron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328415" y="3493008"/>
            <a:ext cx="155448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01568" y="3602736"/>
            <a:ext cx="2286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DB0011"/>
                </a:solidFill>
                <a:latin typeface="Aptos"/>
              </a:rPr>
              <a:t>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48456" y="3575304"/>
            <a:ext cx="10972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80" b="1">
                <a:solidFill>
                  <a:srgbClr val="262626"/>
                </a:solidFill>
                <a:latin typeface="Aptos"/>
              </a:rPr>
              <a:t>Preprocess &amp; funnel</a:t>
            </a:r>
          </a:p>
        </p:txBody>
      </p:sp>
      <p:sp>
        <p:nvSpPr>
          <p:cNvPr id="32" name="Chevron 31"/>
          <p:cNvSpPr/>
          <p:nvPr/>
        </p:nvSpPr>
        <p:spPr>
          <a:xfrm>
            <a:off x="4901183" y="3657600"/>
            <a:ext cx="146304" cy="246888"/>
          </a:xfrm>
          <a:prstGeom prst="chevron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120640" y="3493008"/>
            <a:ext cx="155448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193792" y="3602736"/>
            <a:ext cx="2286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DB0011"/>
                </a:solidFill>
                <a:latin typeface="Aptos"/>
              </a:rPr>
              <a:t>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40679" y="3575304"/>
            <a:ext cx="10972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80" b="1">
                <a:solidFill>
                  <a:srgbClr val="262626"/>
                </a:solidFill>
                <a:latin typeface="Aptos"/>
              </a:rPr>
              <a:t>Chunking / retrieval</a:t>
            </a:r>
          </a:p>
        </p:txBody>
      </p:sp>
      <p:sp>
        <p:nvSpPr>
          <p:cNvPr id="36" name="Chevron 35"/>
          <p:cNvSpPr/>
          <p:nvPr/>
        </p:nvSpPr>
        <p:spPr>
          <a:xfrm>
            <a:off x="6693407" y="3657600"/>
            <a:ext cx="146304" cy="246888"/>
          </a:xfrm>
          <a:prstGeom prst="chevron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912864" y="3493008"/>
            <a:ext cx="155448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986016" y="3602736"/>
            <a:ext cx="2286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DB0011"/>
                </a:solidFill>
                <a:latin typeface="Aptos"/>
              </a:rPr>
              <a:t>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32903" y="3575304"/>
            <a:ext cx="10972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80" b="1">
                <a:solidFill>
                  <a:srgbClr val="262626"/>
                </a:solidFill>
                <a:latin typeface="Aptos"/>
              </a:rPr>
              <a:t>Prompt / GenAI</a:t>
            </a:r>
          </a:p>
        </p:txBody>
      </p:sp>
      <p:sp>
        <p:nvSpPr>
          <p:cNvPr id="40" name="Chevron 39"/>
          <p:cNvSpPr/>
          <p:nvPr/>
        </p:nvSpPr>
        <p:spPr>
          <a:xfrm>
            <a:off x="8485632" y="3657600"/>
            <a:ext cx="146304" cy="246888"/>
          </a:xfrm>
          <a:prstGeom prst="chevron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705088" y="3493008"/>
            <a:ext cx="155448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778240" y="3602736"/>
            <a:ext cx="2286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DB0011"/>
                </a:solidFill>
                <a:latin typeface="Aptos"/>
              </a:rPr>
              <a:t>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25128" y="3575304"/>
            <a:ext cx="10972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80" b="1">
                <a:solidFill>
                  <a:srgbClr val="262626"/>
                </a:solidFill>
                <a:latin typeface="Aptos"/>
              </a:rPr>
              <a:t>Evaluation &amp; SME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2139696" y="2404872"/>
            <a:ext cx="3941064" cy="356616"/>
          </a:xfrm>
          <a:prstGeom prst="line">
            <a:avLst/>
          </a:prstGeom>
          <a:ln w="16510">
            <a:solidFill>
              <a:srgbClr val="DB00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5943600" y="2404872"/>
            <a:ext cx="137160" cy="356616"/>
          </a:xfrm>
          <a:prstGeom prst="line">
            <a:avLst/>
          </a:prstGeom>
          <a:ln w="16510">
            <a:solidFill>
              <a:srgbClr val="DB00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H="1">
            <a:off x="6080760" y="2404872"/>
            <a:ext cx="3666744" cy="356616"/>
          </a:xfrm>
          <a:prstGeom prst="line">
            <a:avLst/>
          </a:prstGeom>
          <a:ln w="16510">
            <a:solidFill>
              <a:srgbClr val="DB00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1234440" y="4828032"/>
            <a:ext cx="9738360" cy="896112"/>
          </a:xfrm>
          <a:prstGeom prst="roundRect">
            <a:avLst/>
          </a:prstGeom>
          <a:solidFill>
            <a:srgbClr val="FDE8EA"/>
          </a:solidFill>
          <a:ln w="12700">
            <a:solidFill>
              <a:srgbClr val="DB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508760" y="5047488"/>
            <a:ext cx="18288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DB0011"/>
                </a:solidFill>
                <a:latin typeface="Aptos"/>
              </a:rPr>
              <a:t>STANDARDISED OUTPUTS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657600" y="4983480"/>
            <a:ext cx="141732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262626"/>
                </a:solidFill>
                <a:latin typeface="Aptos"/>
              </a:rPr>
              <a:t>Identification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532120" y="4983480"/>
            <a:ext cx="18288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262626"/>
                </a:solidFill>
                <a:latin typeface="Aptos"/>
              </a:rPr>
              <a:t>Gaps &amp; Recommendations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818120" y="4983480"/>
            <a:ext cx="169164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262626"/>
                </a:solidFill>
                <a:latin typeface="Aptos"/>
              </a:rPr>
              <a:t>Evidence / traceability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383280" y="5321808"/>
            <a:ext cx="585216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30" b="0">
                <a:solidFill>
                  <a:srgbClr val="646464"/>
                </a:solidFill>
                <a:latin typeface="Aptos"/>
              </a:rPr>
              <a:t>Same engine • different adapter • consistent evaluation and governance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84048" y="5916168"/>
            <a:ext cx="11384280" cy="411480"/>
          </a:xfrm>
          <a:prstGeom prst="roundRect">
            <a:avLst/>
          </a:prstGeom>
          <a:solidFill>
            <a:srgbClr val="262626"/>
          </a:solidFill>
          <a:ln w="12700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94360" y="6007608"/>
            <a:ext cx="109728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30" b="1">
                <a:solidFill>
                  <a:srgbClr val="FFFFFF"/>
                </a:solidFill>
                <a:latin typeface="Aptos"/>
              </a:rPr>
              <a:t>SHARED CONTROL PLANE   ASDA · QMIO · Peer Review · ToR · MDT · AIRCO · IMR · Monitoring · Deployment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532120" y="6537960"/>
            <a:ext cx="10972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50" b="0">
                <a:solidFill>
                  <a:srgbClr val="A5A5A5"/>
                </a:solidFill>
                <a:latin typeface="Aptos"/>
              </a:rPr>
              <a:t>INTERNAL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01168"/>
            <a:ext cx="113842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50" b="1">
                <a:solidFill>
                  <a:srgbClr val="262626"/>
                </a:solidFill>
                <a:latin typeface="Aptos"/>
              </a:rPr>
              <a:t>Design Forum View — Analytical Lifecycle, Decision Gates &amp; Ownership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630936"/>
            <a:ext cx="1097280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DB0011"/>
                </a:solidFill>
                <a:latin typeface="Aptos"/>
              </a:rPr>
              <a:t>MAKES THE SOLUTION DESIGN REVIEWABLE: WHAT HAPPENS, WHO DECIDES, AND WHERE CONTROL IS APPLIED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932688"/>
            <a:ext cx="685800" cy="32004"/>
          </a:xfrm>
          <a:prstGeom prst="rect">
            <a:avLst/>
          </a:prstGeom>
          <a:solidFill>
            <a:srgbClr val="DB0011"/>
          </a:solidFill>
          <a:ln w="12700">
            <a:solidFill>
              <a:srgbClr val="DB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84048" y="1225296"/>
            <a:ext cx="2057400" cy="438912"/>
          </a:xfrm>
          <a:prstGeom prst="roundRect">
            <a:avLst/>
          </a:prstGeom>
          <a:solidFill>
            <a:srgbClr val="262626"/>
          </a:solidFill>
          <a:ln w="12700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1307592"/>
            <a:ext cx="2057400" cy="21945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DISCOVER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14600" y="1225296"/>
            <a:ext cx="3977639" cy="438912"/>
          </a:xfrm>
          <a:prstGeom prst="roundRect">
            <a:avLst/>
          </a:prstGeom>
          <a:solidFill>
            <a:srgbClr val="262626"/>
          </a:solidFill>
          <a:ln w="12700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14600" y="1307592"/>
            <a:ext cx="3977639" cy="21945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BUILD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01968" y="1225296"/>
            <a:ext cx="2148840" cy="438912"/>
          </a:xfrm>
          <a:prstGeom prst="roundRect">
            <a:avLst/>
          </a:prstGeom>
          <a:solidFill>
            <a:srgbClr val="262626"/>
          </a:solidFill>
          <a:ln w="12700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1968" y="1307592"/>
            <a:ext cx="2148840" cy="21945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VALIDATE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42248" y="1225296"/>
            <a:ext cx="2926080" cy="438912"/>
          </a:xfrm>
          <a:prstGeom prst="roundRect">
            <a:avLst/>
          </a:prstGeom>
          <a:solidFill>
            <a:srgbClr val="262626"/>
          </a:solidFill>
          <a:ln w="12700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42248" y="1307592"/>
            <a:ext cx="2926080" cy="21945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OPERATE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1856231"/>
            <a:ext cx="173736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19" b="1">
                <a:solidFill>
                  <a:srgbClr val="DB0011"/>
                </a:solidFill>
                <a:latin typeface="Aptos"/>
              </a:rPr>
              <a:t>DATA / ANALYTICS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057400" y="2039112"/>
            <a:ext cx="9601200" cy="0"/>
          </a:xfrm>
          <a:prstGeom prst="line">
            <a:avLst/>
          </a:prstGeom>
          <a:ln w="10160">
            <a:solidFill>
              <a:srgbClr val="D6D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84048" y="3026664"/>
            <a:ext cx="173736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19" b="1">
                <a:solidFill>
                  <a:srgbClr val="262626"/>
                </a:solidFill>
                <a:latin typeface="Aptos"/>
              </a:rPr>
              <a:t>BUSINESS / SME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057400" y="3209544"/>
            <a:ext cx="9601200" cy="0"/>
          </a:xfrm>
          <a:prstGeom prst="line">
            <a:avLst/>
          </a:prstGeom>
          <a:ln w="10160">
            <a:solidFill>
              <a:srgbClr val="D6D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84048" y="4197096"/>
            <a:ext cx="173736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19" b="1">
                <a:solidFill>
                  <a:srgbClr val="262626"/>
                </a:solidFill>
                <a:latin typeface="Aptos"/>
              </a:rPr>
              <a:t>MODEL / GOVERNANCE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057400" y="4379976"/>
            <a:ext cx="9601200" cy="0"/>
          </a:xfrm>
          <a:prstGeom prst="line">
            <a:avLst/>
          </a:prstGeom>
          <a:ln w="10160">
            <a:solidFill>
              <a:srgbClr val="D6D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84048" y="5367528"/>
            <a:ext cx="173736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19" b="1">
                <a:solidFill>
                  <a:srgbClr val="262626"/>
                </a:solidFill>
                <a:latin typeface="Aptos"/>
              </a:rPr>
              <a:t>TECH / RUN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057400" y="5550408"/>
            <a:ext cx="9601200" cy="0"/>
          </a:xfrm>
          <a:prstGeom prst="line">
            <a:avLst/>
          </a:prstGeom>
          <a:ln w="10160">
            <a:solidFill>
              <a:srgbClr val="D6D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2267712" y="1828800"/>
            <a:ext cx="123444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322576" y="1892807"/>
            <a:ext cx="1124712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19" b="1">
                <a:solidFill>
                  <a:srgbClr val="262626"/>
                </a:solidFill>
                <a:latin typeface="Aptos"/>
              </a:rPr>
              <a:t>Source + scope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39312" y="1828800"/>
            <a:ext cx="123444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94176" y="1892807"/>
            <a:ext cx="1124712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19" b="1">
                <a:solidFill>
                  <a:srgbClr val="262626"/>
                </a:solidFill>
                <a:latin typeface="Aptos"/>
              </a:rPr>
              <a:t>EDA / quality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10912" y="1828800"/>
            <a:ext cx="123444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65776" y="1892807"/>
            <a:ext cx="1124712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19" b="1">
                <a:solidFill>
                  <a:srgbClr val="262626"/>
                </a:solidFill>
                <a:latin typeface="Aptos"/>
              </a:rPr>
              <a:t>Funnel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82512" y="1828800"/>
            <a:ext cx="123444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37376" y="1892807"/>
            <a:ext cx="1124712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19" b="1">
                <a:solidFill>
                  <a:srgbClr val="262626"/>
                </a:solidFill>
                <a:latin typeface="Aptos"/>
              </a:rPr>
              <a:t>Retrieval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54112" y="1828800"/>
            <a:ext cx="123444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808976" y="1892807"/>
            <a:ext cx="1124712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19" b="1">
                <a:solidFill>
                  <a:srgbClr val="262626"/>
                </a:solidFill>
                <a:latin typeface="Aptos"/>
              </a:rPr>
              <a:t>GenAI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25712" y="1828800"/>
            <a:ext cx="123444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80576" y="1892807"/>
            <a:ext cx="1124712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19" b="1">
                <a:solidFill>
                  <a:srgbClr val="262626"/>
                </a:solidFill>
                <a:latin typeface="Aptos"/>
              </a:rPr>
              <a:t>Evaluation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497312" y="1828800"/>
            <a:ext cx="1051560" cy="502920"/>
          </a:xfrm>
          <a:prstGeom prst="roundRect">
            <a:avLst/>
          </a:prstGeom>
          <a:solidFill>
            <a:srgbClr val="F6F6F6"/>
          </a:solidFill>
          <a:ln w="12700">
            <a:solidFill>
              <a:srgbClr val="D6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552176" y="1892807"/>
            <a:ext cx="941831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19" b="1">
                <a:solidFill>
                  <a:srgbClr val="262626"/>
                </a:solidFill>
                <a:latin typeface="Aptos"/>
              </a:rPr>
              <a:t>Monitor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0" y="2999232"/>
            <a:ext cx="1828800" cy="502920"/>
          </a:xfrm>
          <a:prstGeom prst="roundRect">
            <a:avLst/>
          </a:prstGeom>
          <a:solidFill>
            <a:srgbClr val="FDE8EA"/>
          </a:solidFill>
          <a:ln w="12700">
            <a:solidFill>
              <a:srgbClr val="DB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55664" y="3063239"/>
            <a:ext cx="1719072" cy="347472"/>
          </a:xfrm>
          <a:prstGeom prst="rect">
            <a:avLst/>
          </a:prstGeom>
          <a:solidFill>
            <a:srgbClr val="FDEAEC"/>
          </a:solidFill>
          <a:ln w="15240">
            <a:solidFill>
              <a:srgbClr val="DB0011"/>
            </a:solidFill>
          </a:ln>
        </p:spPr>
        <p:txBody>
          <a:bodyPr wrap="none" anchor="ctr">
            <a:spAutoFit/>
          </a:bodyPr>
          <a:lstStyle/>
          <a:p>
            <a:pPr algn="ctr"/>
            <a:r>
              <a:rPr sz="819" b="1">
                <a:solidFill>
                  <a:srgbClr val="262626"/>
                </a:solidFill>
                <a:latin typeface="Aptos"/>
              </a:rPr>
              <a:t>Review findings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412480" y="2999232"/>
            <a:ext cx="1828800" cy="502920"/>
          </a:xfrm>
          <a:prstGeom prst="roundRect">
            <a:avLst/>
          </a:prstGeom>
          <a:solidFill>
            <a:srgbClr val="FDE8EA"/>
          </a:solidFill>
          <a:ln w="12700">
            <a:solidFill>
              <a:srgbClr val="DB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67344" y="3063239"/>
            <a:ext cx="1719072" cy="347472"/>
          </a:xfrm>
          <a:prstGeom prst="rect">
            <a:avLst/>
          </a:prstGeom>
          <a:solidFill>
            <a:srgbClr val="FDEAEC"/>
          </a:solidFill>
          <a:ln w="15240">
            <a:solidFill>
              <a:srgbClr val="DB0011"/>
            </a:solidFill>
          </a:ln>
        </p:spPr>
        <p:txBody>
          <a:bodyPr wrap="none" anchor="ctr">
            <a:spAutoFit/>
          </a:bodyPr>
          <a:lstStyle/>
          <a:p>
            <a:pPr algn="ctr"/>
            <a:r>
              <a:rPr sz="819" b="1">
                <a:solidFill>
                  <a:srgbClr val="262626"/>
                </a:solidFill>
                <a:latin typeface="Aptos"/>
              </a:rPr>
              <a:t>Sign-off / refine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7315200" y="2999232"/>
            <a:ext cx="1097280" cy="0"/>
          </a:xfrm>
          <a:prstGeom prst="line">
            <a:avLst/>
          </a:prstGeom>
          <a:ln w="15240">
            <a:solidFill>
              <a:srgbClr val="DB00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8412480" y="2331720"/>
            <a:ext cx="0" cy="411480"/>
          </a:xfrm>
          <a:prstGeom prst="line">
            <a:avLst/>
          </a:prstGeom>
          <a:ln w="15240">
            <a:solidFill>
              <a:srgbClr val="DB001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3657600" y="4169663"/>
            <a:ext cx="182880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712463" y="4233672"/>
            <a:ext cx="1719072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19" b="1">
                <a:solidFill>
                  <a:srgbClr val="262626"/>
                </a:solidFill>
                <a:latin typeface="Aptos"/>
              </a:rPr>
              <a:t>Peer review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715000" y="4169663"/>
            <a:ext cx="182880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769864" y="4233672"/>
            <a:ext cx="1719072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19" b="1">
                <a:solidFill>
                  <a:srgbClr val="262626"/>
                </a:solidFill>
                <a:latin typeface="Aptos"/>
              </a:rPr>
              <a:t>ToR / MDT / AIRCO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772400" y="4169663"/>
            <a:ext cx="1828800" cy="502920"/>
          </a:xfrm>
          <a:prstGeom prst="roundRect">
            <a:avLst/>
          </a:prstGeom>
          <a:solidFill>
            <a:srgbClr val="FDE8EA"/>
          </a:solidFill>
          <a:ln w="12700">
            <a:solidFill>
              <a:srgbClr val="DB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827264" y="4233672"/>
            <a:ext cx="1719072" cy="347472"/>
          </a:xfrm>
          <a:prstGeom prst="rect">
            <a:avLst/>
          </a:prstGeom>
          <a:solidFill>
            <a:srgbClr val="FDEAEC"/>
          </a:solidFill>
          <a:ln w="15240">
            <a:solidFill>
              <a:srgbClr val="DB0011"/>
            </a:solidFill>
          </a:ln>
        </p:spPr>
        <p:txBody>
          <a:bodyPr wrap="none" anchor="ctr">
            <a:spAutoFit/>
          </a:bodyPr>
          <a:lstStyle/>
          <a:p>
            <a:pPr algn="ctr"/>
            <a:r>
              <a:rPr sz="819" b="1">
                <a:solidFill>
                  <a:srgbClr val="262626"/>
                </a:solidFill>
                <a:latin typeface="Aptos"/>
              </a:rPr>
              <a:t>IMR approval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829800" y="4169663"/>
            <a:ext cx="169164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884664" y="4233672"/>
            <a:ext cx="1581912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19" b="1">
                <a:solidFill>
                  <a:srgbClr val="262626"/>
                </a:solidFill>
                <a:latin typeface="Aptos"/>
              </a:rPr>
              <a:t>Control evidence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315200" y="5340096"/>
            <a:ext cx="160020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370064" y="5404104"/>
            <a:ext cx="1490472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19" b="1">
                <a:solidFill>
                  <a:srgbClr val="262626"/>
                </a:solidFill>
                <a:latin typeface="Aptos"/>
              </a:rPr>
              <a:t>Modularise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098280" y="5340096"/>
            <a:ext cx="160020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153144" y="5404104"/>
            <a:ext cx="1490472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19" b="1">
                <a:solidFill>
                  <a:srgbClr val="262626"/>
                </a:solidFill>
                <a:latin typeface="Aptos"/>
              </a:rPr>
              <a:t>KT to Tech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0881360" y="5340096"/>
            <a:ext cx="640080" cy="502920"/>
          </a:xfrm>
          <a:prstGeom prst="roundRect">
            <a:avLst/>
          </a:prstGeom>
          <a:solidFill>
            <a:srgbClr val="F6F6F6"/>
          </a:solidFill>
          <a:ln w="12700">
            <a:solidFill>
              <a:srgbClr val="D6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744200" y="5404104"/>
            <a:ext cx="91440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19" b="1">
                <a:solidFill>
                  <a:srgbClr val="262626"/>
                </a:solidFill>
                <a:latin typeface="Aptos"/>
              </a:rPr>
              <a:t>Deploy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3502152" y="2084831"/>
            <a:ext cx="137160" cy="0"/>
          </a:xfrm>
          <a:prstGeom prst="line">
            <a:avLst/>
          </a:prstGeom>
          <a:ln w="19050">
            <a:solidFill>
              <a:srgbClr val="DB00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4873752" y="2084831"/>
            <a:ext cx="137160" cy="0"/>
          </a:xfrm>
          <a:prstGeom prst="line">
            <a:avLst/>
          </a:prstGeom>
          <a:ln w="19050">
            <a:solidFill>
              <a:srgbClr val="DB00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6245352" y="2084831"/>
            <a:ext cx="137160" cy="0"/>
          </a:xfrm>
          <a:prstGeom prst="line">
            <a:avLst/>
          </a:prstGeom>
          <a:ln w="19050">
            <a:solidFill>
              <a:srgbClr val="DB00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7616952" y="2084831"/>
            <a:ext cx="137160" cy="0"/>
          </a:xfrm>
          <a:prstGeom prst="line">
            <a:avLst/>
          </a:prstGeom>
          <a:ln w="19050">
            <a:solidFill>
              <a:srgbClr val="DB00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8988552" y="2084831"/>
            <a:ext cx="137160" cy="0"/>
          </a:xfrm>
          <a:prstGeom prst="line">
            <a:avLst/>
          </a:prstGeom>
          <a:ln w="19050">
            <a:solidFill>
              <a:srgbClr val="DB00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10360152" y="2084831"/>
            <a:ext cx="137160" cy="0"/>
          </a:xfrm>
          <a:prstGeom prst="line">
            <a:avLst/>
          </a:prstGeom>
          <a:ln w="19050">
            <a:solidFill>
              <a:srgbClr val="DB00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ounded Rectangle 60"/>
          <p:cNvSpPr/>
          <p:nvPr/>
        </p:nvSpPr>
        <p:spPr>
          <a:xfrm>
            <a:off x="384048" y="5961888"/>
            <a:ext cx="11384280" cy="384048"/>
          </a:xfrm>
          <a:prstGeom prst="roundRect">
            <a:avLst/>
          </a:prstGeom>
          <a:solidFill>
            <a:srgbClr val="FDE8EA"/>
          </a:solidFill>
          <a:ln w="12700">
            <a:solidFill>
              <a:srgbClr val="FD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66928" y="6025896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60" b="1">
                <a:solidFill>
                  <a:srgbClr val="DB0011"/>
                </a:solidFill>
                <a:latin typeface="Aptos"/>
              </a:rPr>
              <a:t>DESIGN PRINCIPLE  </a:t>
            </a:r>
            <a:r>
              <a:rPr sz="860" b="0">
                <a:solidFill>
                  <a:srgbClr val="262626"/>
                </a:solidFill>
                <a:latin typeface="Aptos"/>
              </a:rPr>
              <a:t>Separate domain adaptation from the common analytical engine; make validation, governance and monitoring explicit control points.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532120" y="6537960"/>
            <a:ext cx="10972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50" b="0">
                <a:solidFill>
                  <a:srgbClr val="A5A5A5"/>
                </a:solidFill>
                <a:latin typeface="Aptos"/>
              </a:rPr>
              <a:t>INTERNAL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732520" y="6007608"/>
            <a:ext cx="27432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720" b="0">
                <a:solidFill>
                  <a:srgbClr val="626262"/>
                </a:solidFill>
                <a:latin typeface="Aptos"/>
              </a:rPr>
              <a:t>● Decision / approval gate   —  Analytical flow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